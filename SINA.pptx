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TAN Astoria" charset="1" panose="00000000000000000000"/>
      <p:regular r:id="rId18"/>
    </p:embeddedFont>
    <p:embeddedFont>
      <p:font typeface="Noto Serif Display ExtraCondensed" charset="1" panose="02020506080505020204"/>
      <p:regular r:id="rId19"/>
    </p:embeddedFont>
    <p:embeddedFont>
      <p:font typeface="Prachason Neue Expanded Bold" charset="1" panose="00000000000000000000"/>
      <p:regular r:id="rId20"/>
    </p:embeddedFont>
    <p:embeddedFont>
      <p:font typeface="Montserrat" charset="1" panose="00000500000000000000"/>
      <p:regular r:id="rId21"/>
    </p:embeddedFont>
    <p:embeddedFont>
      <p:font typeface="Noto Serif ExtraCondensed" charset="1" panose="0202050206050502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Relationship Id="rId7" Target="../media/image11.png" Type="http://schemas.openxmlformats.org/officeDocument/2006/relationships/image"/><Relationship Id="rId8" Target="../media/image12.pn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2" Target="../media/image14.jpe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11.png" Type="http://schemas.openxmlformats.org/officeDocument/2006/relationships/image"/><Relationship Id="rId8" Target="../media/image12.pn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22.png" Type="http://schemas.openxmlformats.org/officeDocument/2006/relationships/image"/><Relationship Id="rId6" Target="../media/image4.png" Type="http://schemas.openxmlformats.org/officeDocument/2006/relationships/image"/><Relationship Id="rId7" Target="../media/image23.png" Type="http://schemas.openxmlformats.org/officeDocument/2006/relationships/image"/><Relationship Id="rId8" Target="../media/image2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25.png" Type="http://schemas.openxmlformats.org/officeDocument/2006/relationships/image"/><Relationship Id="rId4" Target="../media/image26.svg" Type="http://schemas.openxmlformats.org/officeDocument/2006/relationships/image"/><Relationship Id="rId5" Target="../media/image27.pn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Relationship Id="rId8" Target="../media/image1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25.png" Type="http://schemas.openxmlformats.org/officeDocument/2006/relationships/image"/><Relationship Id="rId4" Target="../media/image26.svg" Type="http://schemas.openxmlformats.org/officeDocument/2006/relationships/image"/><Relationship Id="rId5" Target="../media/image27.pn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Relationship Id="rId8" Target="../media/image1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28.png" Type="http://schemas.openxmlformats.org/officeDocument/2006/relationships/image"/><Relationship Id="rId4" Target="../media/image29.svg" Type="http://schemas.openxmlformats.org/officeDocument/2006/relationships/image"/><Relationship Id="rId5" Target="../media/image30.png" Type="http://schemas.openxmlformats.org/officeDocument/2006/relationships/image"/><Relationship Id="rId6" Target="../media/image31.png" Type="http://schemas.openxmlformats.org/officeDocument/2006/relationships/image"/><Relationship Id="rId7" Target="../media/image32.png" Type="http://schemas.openxmlformats.org/officeDocument/2006/relationships/image"/><Relationship Id="rId8" Target="../media/image3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34.png" Type="http://schemas.openxmlformats.org/officeDocument/2006/relationships/image"/><Relationship Id="rId4" Target="../media/image35.svg" Type="http://schemas.openxmlformats.org/officeDocument/2006/relationships/image"/><Relationship Id="rId5" Target="../media/image36.pn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Relationship Id="rId8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34.png" Type="http://schemas.openxmlformats.org/officeDocument/2006/relationships/image"/><Relationship Id="rId4" Target="../media/image35.svg" Type="http://schemas.openxmlformats.org/officeDocument/2006/relationships/image"/><Relationship Id="rId5" Target="../media/image36.pn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Relationship Id="rId8" Target="../media/image1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34.png" Type="http://schemas.openxmlformats.org/officeDocument/2006/relationships/image"/><Relationship Id="rId4" Target="../media/image35.svg" Type="http://schemas.openxmlformats.org/officeDocument/2006/relationships/image"/><Relationship Id="rId5" Target="../media/image36.pn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Relationship Id="rId8" Target="../media/image1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34.png" Type="http://schemas.openxmlformats.org/officeDocument/2006/relationships/image"/><Relationship Id="rId4" Target="../media/image35.svg" Type="http://schemas.openxmlformats.org/officeDocument/2006/relationships/image"/><Relationship Id="rId5" Target="../media/image36.pn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Relationship Id="rId8" Target="../media/image1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37.png" Type="http://schemas.openxmlformats.org/officeDocument/2006/relationships/image"/><Relationship Id="rId4" Target="../media/image38.svg" Type="http://schemas.openxmlformats.org/officeDocument/2006/relationships/image"/><Relationship Id="rId5" Target="../media/image39.png" Type="http://schemas.openxmlformats.org/officeDocument/2006/relationships/image"/><Relationship Id="rId6" Target="../media/image4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74759" y="5370706"/>
            <a:ext cx="10919496" cy="10919496"/>
          </a:xfrm>
          <a:custGeom>
            <a:avLst/>
            <a:gdLst/>
            <a:ahLst/>
            <a:cxnLst/>
            <a:rect r="r" b="b" t="t" l="l"/>
            <a:pathLst>
              <a:path h="10919496" w="10919496">
                <a:moveTo>
                  <a:pt x="0" y="0"/>
                </a:moveTo>
                <a:lnTo>
                  <a:pt x="10919496" y="0"/>
                </a:lnTo>
                <a:lnTo>
                  <a:pt x="10919496" y="10919496"/>
                </a:lnTo>
                <a:lnTo>
                  <a:pt x="0" y="109194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554412" y="-4114800"/>
            <a:ext cx="10846260" cy="8229600"/>
          </a:xfrm>
          <a:custGeom>
            <a:avLst/>
            <a:gdLst/>
            <a:ahLst/>
            <a:cxnLst/>
            <a:rect r="r" b="b" t="t" l="l"/>
            <a:pathLst>
              <a:path h="8229600" w="10846260">
                <a:moveTo>
                  <a:pt x="0" y="0"/>
                </a:moveTo>
                <a:lnTo>
                  <a:pt x="10846260" y="0"/>
                </a:lnTo>
                <a:lnTo>
                  <a:pt x="1084626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3326260">
            <a:off x="8160062" y="6263323"/>
            <a:ext cx="9500260" cy="8229600"/>
          </a:xfrm>
          <a:custGeom>
            <a:avLst/>
            <a:gdLst/>
            <a:ahLst/>
            <a:cxnLst/>
            <a:rect r="r" b="b" t="t" l="l"/>
            <a:pathLst>
              <a:path h="8229600" w="9500260">
                <a:moveTo>
                  <a:pt x="0" y="0"/>
                </a:moveTo>
                <a:lnTo>
                  <a:pt x="9500260" y="0"/>
                </a:lnTo>
                <a:lnTo>
                  <a:pt x="950026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978923" y="-4676538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7" y="0"/>
                </a:lnTo>
                <a:lnTo>
                  <a:pt x="7309077" y="7309076"/>
                </a:lnTo>
                <a:lnTo>
                  <a:pt x="0" y="73090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773006" y="3401882"/>
            <a:ext cx="8741989" cy="3483237"/>
            <a:chOff x="0" y="0"/>
            <a:chExt cx="610717" cy="24333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10717" cy="243339"/>
            </a:xfrm>
            <a:custGeom>
              <a:avLst/>
              <a:gdLst/>
              <a:ahLst/>
              <a:cxnLst/>
              <a:rect r="r" b="b" t="t" l="l"/>
              <a:pathLst>
                <a:path h="243339" w="610717">
                  <a:moveTo>
                    <a:pt x="305358" y="0"/>
                  </a:moveTo>
                  <a:cubicBezTo>
                    <a:pt x="136714" y="0"/>
                    <a:pt x="0" y="54473"/>
                    <a:pt x="0" y="121670"/>
                  </a:cubicBezTo>
                  <a:cubicBezTo>
                    <a:pt x="0" y="188866"/>
                    <a:pt x="136714" y="243339"/>
                    <a:pt x="305358" y="243339"/>
                  </a:cubicBezTo>
                  <a:cubicBezTo>
                    <a:pt x="474003" y="243339"/>
                    <a:pt x="610717" y="188866"/>
                    <a:pt x="610717" y="121670"/>
                  </a:cubicBezTo>
                  <a:cubicBezTo>
                    <a:pt x="610717" y="54473"/>
                    <a:pt x="474003" y="0"/>
                    <a:pt x="305358" y="0"/>
                  </a:cubicBezTo>
                  <a:close/>
                </a:path>
              </a:pathLst>
            </a:custGeom>
            <a:ln w="19050" cap="sq">
              <a:solidFill>
                <a:srgbClr val="FFD21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57255" y="-15287"/>
              <a:ext cx="496207" cy="2358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4040450" y="4410944"/>
            <a:ext cx="1465112" cy="1465112"/>
          </a:xfrm>
          <a:custGeom>
            <a:avLst/>
            <a:gdLst/>
            <a:ahLst/>
            <a:cxnLst/>
            <a:rect r="r" b="b" t="t" l="l"/>
            <a:pathLst>
              <a:path h="1465112" w="1465112">
                <a:moveTo>
                  <a:pt x="0" y="0"/>
                </a:moveTo>
                <a:lnTo>
                  <a:pt x="1465112" y="0"/>
                </a:lnTo>
                <a:lnTo>
                  <a:pt x="1465112" y="1465112"/>
                </a:lnTo>
                <a:lnTo>
                  <a:pt x="0" y="14651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603815" y="4591919"/>
            <a:ext cx="11080370" cy="2128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24"/>
              </a:lnSpc>
            </a:pPr>
            <a:r>
              <a:rPr lang="en-US" sz="15163">
                <a:solidFill>
                  <a:srgbClr val="FFFFFF"/>
                </a:solidFill>
                <a:latin typeface="TAN Astoria"/>
                <a:ea typeface="TAN Astoria"/>
                <a:cs typeface="TAN Astoria"/>
                <a:sym typeface="TAN Astoria"/>
              </a:rPr>
              <a:t>S.I.N.A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2782438" y="4410944"/>
            <a:ext cx="1465112" cy="1465112"/>
          </a:xfrm>
          <a:custGeom>
            <a:avLst/>
            <a:gdLst/>
            <a:ahLst/>
            <a:cxnLst/>
            <a:rect r="r" b="b" t="t" l="l"/>
            <a:pathLst>
              <a:path h="1465112" w="1465112">
                <a:moveTo>
                  <a:pt x="0" y="0"/>
                </a:moveTo>
                <a:lnTo>
                  <a:pt x="1465112" y="0"/>
                </a:lnTo>
                <a:lnTo>
                  <a:pt x="1465112" y="1465112"/>
                </a:lnTo>
                <a:lnTo>
                  <a:pt x="0" y="14651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837937" y="3118083"/>
            <a:ext cx="1013927" cy="1013927"/>
          </a:xfrm>
          <a:custGeom>
            <a:avLst/>
            <a:gdLst/>
            <a:ahLst/>
            <a:cxnLst/>
            <a:rect r="r" b="b" t="t" l="l"/>
            <a:pathLst>
              <a:path h="1013927" w="1013927">
                <a:moveTo>
                  <a:pt x="0" y="0"/>
                </a:moveTo>
                <a:lnTo>
                  <a:pt x="1013926" y="0"/>
                </a:lnTo>
                <a:lnTo>
                  <a:pt x="1013926" y="1013927"/>
                </a:lnTo>
                <a:lnTo>
                  <a:pt x="0" y="101392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998620" y="6021091"/>
            <a:ext cx="1013927" cy="1013927"/>
          </a:xfrm>
          <a:custGeom>
            <a:avLst/>
            <a:gdLst/>
            <a:ahLst/>
            <a:cxnLst/>
            <a:rect r="r" b="b" t="t" l="l"/>
            <a:pathLst>
              <a:path h="1013927" w="1013927">
                <a:moveTo>
                  <a:pt x="0" y="0"/>
                </a:moveTo>
                <a:lnTo>
                  <a:pt x="1013927" y="0"/>
                </a:lnTo>
                <a:lnTo>
                  <a:pt x="1013927" y="1013927"/>
                </a:lnTo>
                <a:lnTo>
                  <a:pt x="0" y="101392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5298984" y="290980"/>
            <a:ext cx="2693098" cy="2500117"/>
            <a:chOff x="0" y="0"/>
            <a:chExt cx="3590798" cy="3333490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98335" y="9800"/>
              <a:ext cx="3271749" cy="3227171"/>
              <a:chOff x="0" y="0"/>
              <a:chExt cx="853552" cy="841922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53552" cy="841922"/>
              </a:xfrm>
              <a:custGeom>
                <a:avLst/>
                <a:gdLst/>
                <a:ahLst/>
                <a:cxnLst/>
                <a:rect r="r" b="b" t="t" l="l"/>
                <a:pathLst>
                  <a:path h="841922" w="853552">
                    <a:moveTo>
                      <a:pt x="426776" y="0"/>
                    </a:moveTo>
                    <a:cubicBezTo>
                      <a:pt x="191074" y="0"/>
                      <a:pt x="0" y="188471"/>
                      <a:pt x="0" y="420961"/>
                    </a:cubicBezTo>
                    <a:cubicBezTo>
                      <a:pt x="0" y="653451"/>
                      <a:pt x="191074" y="841922"/>
                      <a:pt x="426776" y="841922"/>
                    </a:cubicBezTo>
                    <a:cubicBezTo>
                      <a:pt x="662478" y="841922"/>
                      <a:pt x="853552" y="653451"/>
                      <a:pt x="853552" y="420961"/>
                    </a:cubicBezTo>
                    <a:cubicBezTo>
                      <a:pt x="853552" y="188471"/>
                      <a:pt x="662478" y="0"/>
                      <a:pt x="426776" y="0"/>
                    </a:cubicBezTo>
                    <a:close/>
                  </a:path>
                </a:pathLst>
              </a:custGeom>
              <a:solidFill>
                <a:srgbClr val="FFD21F"/>
              </a:solidFill>
              <a:ln w="66675" cap="sq">
                <a:solidFill>
                  <a:srgbClr val="000000"/>
                </a:solidFill>
                <a:prstDash val="sysDot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80020" y="12255"/>
                <a:ext cx="693511" cy="75073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504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8" id="18"/>
            <p:cNvSpPr/>
            <p:nvPr/>
          </p:nvSpPr>
          <p:spPr>
            <a:xfrm flipH="false" flipV="false" rot="0">
              <a:off x="830836" y="394900"/>
              <a:ext cx="2063286" cy="2456971"/>
            </a:xfrm>
            <a:custGeom>
              <a:avLst/>
              <a:gdLst/>
              <a:ahLst/>
              <a:cxnLst/>
              <a:rect r="r" b="b" t="t" l="l"/>
              <a:pathLst>
                <a:path h="2456971" w="2063286">
                  <a:moveTo>
                    <a:pt x="0" y="0"/>
                  </a:moveTo>
                  <a:lnTo>
                    <a:pt x="2063286" y="0"/>
                  </a:lnTo>
                  <a:lnTo>
                    <a:pt x="2063286" y="2456971"/>
                  </a:lnTo>
                  <a:lnTo>
                    <a:pt x="0" y="24569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-66441">
              <a:off x="1470710" y="19963"/>
              <a:ext cx="2093111" cy="2811945"/>
            </a:xfrm>
            <a:custGeom>
              <a:avLst/>
              <a:gdLst/>
              <a:ahLst/>
              <a:cxnLst/>
              <a:rect r="r" b="b" t="t" l="l"/>
              <a:pathLst>
                <a:path h="2811945" w="2093111">
                  <a:moveTo>
                    <a:pt x="0" y="0"/>
                  </a:moveTo>
                  <a:lnTo>
                    <a:pt x="2093111" y="0"/>
                  </a:lnTo>
                  <a:lnTo>
                    <a:pt x="2093111" y="2811945"/>
                  </a:lnTo>
                  <a:lnTo>
                    <a:pt x="0" y="28119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-755" t="-8095" r="-755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10799999">
              <a:off x="0" y="521545"/>
              <a:ext cx="2093111" cy="2811945"/>
            </a:xfrm>
            <a:custGeom>
              <a:avLst/>
              <a:gdLst/>
              <a:ahLst/>
              <a:cxnLst/>
              <a:rect r="r" b="b" t="t" l="l"/>
              <a:pathLst>
                <a:path h="2811945" w="2093111">
                  <a:moveTo>
                    <a:pt x="0" y="0"/>
                  </a:moveTo>
                  <a:lnTo>
                    <a:pt x="2093111" y="0"/>
                  </a:lnTo>
                  <a:lnTo>
                    <a:pt x="2093111" y="2811945"/>
                  </a:lnTo>
                  <a:lnTo>
                    <a:pt x="0" y="28119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-755" t="-8095" r="-755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10555869">
              <a:off x="217700" y="1623386"/>
              <a:ext cx="1001605" cy="1345584"/>
            </a:xfrm>
            <a:custGeom>
              <a:avLst/>
              <a:gdLst/>
              <a:ahLst/>
              <a:cxnLst/>
              <a:rect r="r" b="b" t="t" l="l"/>
              <a:pathLst>
                <a:path h="1345584" w="1001605">
                  <a:moveTo>
                    <a:pt x="0" y="0"/>
                  </a:moveTo>
                  <a:lnTo>
                    <a:pt x="1001605" y="0"/>
                  </a:lnTo>
                  <a:lnTo>
                    <a:pt x="1001605" y="1345584"/>
                  </a:lnTo>
                  <a:lnTo>
                    <a:pt x="0" y="1345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-755" t="-8095" r="-755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-352945">
              <a:off x="2312523" y="370549"/>
              <a:ext cx="743357" cy="1043066"/>
            </a:xfrm>
            <a:custGeom>
              <a:avLst/>
              <a:gdLst/>
              <a:ahLst/>
              <a:cxnLst/>
              <a:rect r="r" b="b" t="t" l="l"/>
              <a:pathLst>
                <a:path h="1043066" w="743357">
                  <a:moveTo>
                    <a:pt x="0" y="0"/>
                  </a:moveTo>
                  <a:lnTo>
                    <a:pt x="743357" y="0"/>
                  </a:lnTo>
                  <a:lnTo>
                    <a:pt x="743357" y="1043066"/>
                  </a:lnTo>
                  <a:lnTo>
                    <a:pt x="0" y="10430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-21769" t="-27252" r="-27677" b="-25109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217700" y="1161059"/>
              <a:ext cx="3114987" cy="924653"/>
            </a:xfrm>
            <a:custGeom>
              <a:avLst/>
              <a:gdLst/>
              <a:ahLst/>
              <a:cxnLst/>
              <a:rect r="r" b="b" t="t" l="l"/>
              <a:pathLst>
                <a:path h="924653" w="3114987">
                  <a:moveTo>
                    <a:pt x="0" y="0"/>
                  </a:moveTo>
                  <a:lnTo>
                    <a:pt x="3114987" y="0"/>
                  </a:lnTo>
                  <a:lnTo>
                    <a:pt x="3114987" y="924653"/>
                  </a:lnTo>
                  <a:lnTo>
                    <a:pt x="0" y="9246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-42566" b="0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5164304" y="2556338"/>
            <a:ext cx="7959393" cy="1291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07"/>
              </a:lnSpc>
              <a:spcBef>
                <a:spcPct val="0"/>
              </a:spcBef>
            </a:pPr>
            <a:r>
              <a:rPr lang="en-US" sz="3900">
                <a:solidFill>
                  <a:srgbClr val="FFD21F"/>
                </a:solidFill>
                <a:latin typeface="Noto Serif Display ExtraCondensed"/>
                <a:ea typeface="Noto Serif Display ExtraCondensed"/>
                <a:cs typeface="Noto Serif Display ExtraCondensed"/>
                <a:sym typeface="Noto Serif Display ExtraCondensed"/>
              </a:rPr>
              <a:t>Sistema Integrado de Aprendizagem Ativa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632374" y="-4724452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7" y="0"/>
                </a:lnTo>
                <a:lnTo>
                  <a:pt x="7309077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278698" y="-6420763"/>
            <a:ext cx="12693341" cy="13630434"/>
          </a:xfrm>
          <a:custGeom>
            <a:avLst/>
            <a:gdLst/>
            <a:ahLst/>
            <a:cxnLst/>
            <a:rect r="r" b="b" t="t" l="l"/>
            <a:pathLst>
              <a:path h="13630434" w="12693341">
                <a:moveTo>
                  <a:pt x="0" y="0"/>
                </a:moveTo>
                <a:lnTo>
                  <a:pt x="12693341" y="0"/>
                </a:lnTo>
                <a:lnTo>
                  <a:pt x="12693341" y="13630433"/>
                </a:lnTo>
                <a:lnTo>
                  <a:pt x="0" y="136304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432768" y="7486132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7" y="0"/>
                </a:lnTo>
                <a:lnTo>
                  <a:pt x="7309077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449332" y="5795306"/>
            <a:ext cx="8381159" cy="8999903"/>
          </a:xfrm>
          <a:custGeom>
            <a:avLst/>
            <a:gdLst/>
            <a:ahLst/>
            <a:cxnLst/>
            <a:rect r="r" b="b" t="t" l="l"/>
            <a:pathLst>
              <a:path h="8999903" w="8381159">
                <a:moveTo>
                  <a:pt x="0" y="0"/>
                </a:moveTo>
                <a:lnTo>
                  <a:pt x="8381159" y="0"/>
                </a:lnTo>
                <a:lnTo>
                  <a:pt x="8381159" y="8999903"/>
                </a:lnTo>
                <a:lnTo>
                  <a:pt x="0" y="89999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5594902" y="7486132"/>
            <a:ext cx="2693098" cy="2500117"/>
            <a:chOff x="0" y="0"/>
            <a:chExt cx="3590798" cy="3333490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98335" y="9800"/>
              <a:ext cx="3271749" cy="3227171"/>
              <a:chOff x="0" y="0"/>
              <a:chExt cx="853552" cy="841922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53552" cy="841922"/>
              </a:xfrm>
              <a:custGeom>
                <a:avLst/>
                <a:gdLst/>
                <a:ahLst/>
                <a:cxnLst/>
                <a:rect r="r" b="b" t="t" l="l"/>
                <a:pathLst>
                  <a:path h="841922" w="853552">
                    <a:moveTo>
                      <a:pt x="426776" y="0"/>
                    </a:moveTo>
                    <a:cubicBezTo>
                      <a:pt x="191074" y="0"/>
                      <a:pt x="0" y="188471"/>
                      <a:pt x="0" y="420961"/>
                    </a:cubicBezTo>
                    <a:cubicBezTo>
                      <a:pt x="0" y="653451"/>
                      <a:pt x="191074" y="841922"/>
                      <a:pt x="426776" y="841922"/>
                    </a:cubicBezTo>
                    <a:cubicBezTo>
                      <a:pt x="662478" y="841922"/>
                      <a:pt x="853552" y="653451"/>
                      <a:pt x="853552" y="420961"/>
                    </a:cubicBezTo>
                    <a:cubicBezTo>
                      <a:pt x="853552" y="188471"/>
                      <a:pt x="662478" y="0"/>
                      <a:pt x="426776" y="0"/>
                    </a:cubicBezTo>
                    <a:close/>
                  </a:path>
                </a:pathLst>
              </a:custGeom>
              <a:solidFill>
                <a:srgbClr val="FFD21F"/>
              </a:solidFill>
              <a:ln w="66675" cap="sq">
                <a:solidFill>
                  <a:srgbClr val="000000"/>
                </a:solidFill>
                <a:prstDash val="sysDot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80020" y="12255"/>
                <a:ext cx="693511" cy="75073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504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1" id="11"/>
            <p:cNvSpPr/>
            <p:nvPr/>
          </p:nvSpPr>
          <p:spPr>
            <a:xfrm flipH="false" flipV="false" rot="0">
              <a:off x="830836" y="394900"/>
              <a:ext cx="2063286" cy="2456971"/>
            </a:xfrm>
            <a:custGeom>
              <a:avLst/>
              <a:gdLst/>
              <a:ahLst/>
              <a:cxnLst/>
              <a:rect r="r" b="b" t="t" l="l"/>
              <a:pathLst>
                <a:path h="2456971" w="2063286">
                  <a:moveTo>
                    <a:pt x="0" y="0"/>
                  </a:moveTo>
                  <a:lnTo>
                    <a:pt x="2063286" y="0"/>
                  </a:lnTo>
                  <a:lnTo>
                    <a:pt x="2063286" y="2456971"/>
                  </a:lnTo>
                  <a:lnTo>
                    <a:pt x="0" y="24569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-66441">
              <a:off x="1470710" y="19963"/>
              <a:ext cx="2093111" cy="2811945"/>
            </a:xfrm>
            <a:custGeom>
              <a:avLst/>
              <a:gdLst/>
              <a:ahLst/>
              <a:cxnLst/>
              <a:rect r="r" b="b" t="t" l="l"/>
              <a:pathLst>
                <a:path h="2811945" w="2093111">
                  <a:moveTo>
                    <a:pt x="0" y="0"/>
                  </a:moveTo>
                  <a:lnTo>
                    <a:pt x="2093111" y="0"/>
                  </a:lnTo>
                  <a:lnTo>
                    <a:pt x="2093111" y="2811945"/>
                  </a:lnTo>
                  <a:lnTo>
                    <a:pt x="0" y="28119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55" t="-8095" r="-755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10799999">
              <a:off x="0" y="521545"/>
              <a:ext cx="2093111" cy="2811945"/>
            </a:xfrm>
            <a:custGeom>
              <a:avLst/>
              <a:gdLst/>
              <a:ahLst/>
              <a:cxnLst/>
              <a:rect r="r" b="b" t="t" l="l"/>
              <a:pathLst>
                <a:path h="2811945" w="2093111">
                  <a:moveTo>
                    <a:pt x="0" y="0"/>
                  </a:moveTo>
                  <a:lnTo>
                    <a:pt x="2093111" y="0"/>
                  </a:lnTo>
                  <a:lnTo>
                    <a:pt x="2093111" y="2811945"/>
                  </a:lnTo>
                  <a:lnTo>
                    <a:pt x="0" y="28119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55" t="-8095" r="-755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10555869">
              <a:off x="217700" y="1623386"/>
              <a:ext cx="1001605" cy="1345584"/>
            </a:xfrm>
            <a:custGeom>
              <a:avLst/>
              <a:gdLst/>
              <a:ahLst/>
              <a:cxnLst/>
              <a:rect r="r" b="b" t="t" l="l"/>
              <a:pathLst>
                <a:path h="1345584" w="1001605">
                  <a:moveTo>
                    <a:pt x="0" y="0"/>
                  </a:moveTo>
                  <a:lnTo>
                    <a:pt x="1001605" y="0"/>
                  </a:lnTo>
                  <a:lnTo>
                    <a:pt x="1001605" y="1345584"/>
                  </a:lnTo>
                  <a:lnTo>
                    <a:pt x="0" y="1345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55" t="-8095" r="-755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-352945">
              <a:off x="2312523" y="370549"/>
              <a:ext cx="743357" cy="1043066"/>
            </a:xfrm>
            <a:custGeom>
              <a:avLst/>
              <a:gdLst/>
              <a:ahLst/>
              <a:cxnLst/>
              <a:rect r="r" b="b" t="t" l="l"/>
              <a:pathLst>
                <a:path h="1043066" w="743357">
                  <a:moveTo>
                    <a:pt x="0" y="0"/>
                  </a:moveTo>
                  <a:lnTo>
                    <a:pt x="743357" y="0"/>
                  </a:lnTo>
                  <a:lnTo>
                    <a:pt x="743357" y="1043066"/>
                  </a:lnTo>
                  <a:lnTo>
                    <a:pt x="0" y="10430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21769" t="-27252" r="-27677" b="-25109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17700" y="1161059"/>
              <a:ext cx="3114987" cy="924653"/>
            </a:xfrm>
            <a:custGeom>
              <a:avLst/>
              <a:gdLst/>
              <a:ahLst/>
              <a:cxnLst/>
              <a:rect r="r" b="b" t="t" l="l"/>
              <a:pathLst>
                <a:path h="924653" w="3114987">
                  <a:moveTo>
                    <a:pt x="0" y="0"/>
                  </a:moveTo>
                  <a:lnTo>
                    <a:pt x="3114987" y="0"/>
                  </a:lnTo>
                  <a:lnTo>
                    <a:pt x="3114987" y="924653"/>
                  </a:lnTo>
                  <a:lnTo>
                    <a:pt x="0" y="9246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-42566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2004897" y="666750"/>
            <a:ext cx="9242893" cy="1454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35"/>
              </a:lnSpc>
            </a:pPr>
            <a:r>
              <a:rPr lang="en-US" b="true" sz="7200">
                <a:solidFill>
                  <a:srgbClr val="FFFFFF"/>
                </a:solidFill>
                <a:latin typeface="Prachason Neue Expanded Bold"/>
                <a:ea typeface="Prachason Neue Expanded Bold"/>
                <a:cs typeface="Prachason Neue Expanded Bold"/>
                <a:sym typeface="Prachason Neue Expanded Bold"/>
              </a:rPr>
              <a:t>O QUE É?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004897" y="2073783"/>
            <a:ext cx="6948700" cy="2940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3"/>
              </a:lnSpc>
            </a:pPr>
            <a:r>
              <a:rPr lang="en-US" sz="280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Um Sistema composto por uma </a:t>
            </a:r>
            <a:r>
              <a:rPr lang="en-US" sz="280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câmera com scanner</a:t>
            </a:r>
            <a:r>
              <a:rPr lang="en-US" sz="280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sobre um tripé e conectado a um Site que utiliz</a:t>
            </a:r>
            <a:r>
              <a:rPr lang="en-US" sz="280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sz="280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  <a:r>
              <a:rPr lang="en-US" sz="280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lang="en-US" sz="280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 um sistem</a:t>
            </a:r>
            <a:r>
              <a:rPr lang="en-US" sz="280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 </a:t>
            </a:r>
            <a:r>
              <a:rPr lang="en-US" sz="280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pareci</a:t>
            </a:r>
            <a:r>
              <a:rPr lang="en-US" sz="280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r>
              <a:rPr lang="en-US" sz="280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  <a:r>
              <a:rPr lang="en-US" sz="280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80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r>
              <a:rPr lang="en-US" sz="280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om</a:t>
            </a:r>
            <a:r>
              <a:rPr lang="en-US" sz="280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o do P</a:t>
            </a:r>
            <a:r>
              <a:rPr lang="en-US" sz="280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li</a:t>
            </a:r>
            <a:r>
              <a:rPr lang="en-US" sz="280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ckers (Esca</a:t>
            </a:r>
            <a:r>
              <a:rPr lang="en-US" sz="280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</a:t>
            </a:r>
            <a:r>
              <a:rPr lang="en-US" sz="280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en-US" sz="280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ia </a:t>
            </a:r>
            <a:r>
              <a:rPr lang="en-US" sz="280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r>
              <a:rPr lang="en-US" sz="280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art</a:t>
            </a:r>
            <a:r>
              <a:rPr lang="en-US" sz="280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ões </a:t>
            </a:r>
            <a:r>
              <a:rPr lang="en-US" sz="280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r>
              <a:rPr lang="en-US" sz="280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om QR codes p</a:t>
            </a:r>
            <a:r>
              <a:rPr lang="en-US" sz="280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sz="280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ra </a:t>
            </a:r>
            <a:r>
              <a:rPr lang="en-US" sz="280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</a:t>
            </a:r>
            <a:r>
              <a:rPr lang="en-US" sz="280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er</a:t>
            </a:r>
            <a:r>
              <a:rPr lang="en-US" sz="280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80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as respostas de </a:t>
            </a:r>
            <a:r>
              <a:rPr lang="en-US" sz="280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</a:t>
            </a:r>
            <a:r>
              <a:rPr lang="en-US" sz="280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 alun</a:t>
            </a:r>
            <a:r>
              <a:rPr lang="en-US" sz="280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  <a:r>
              <a:rPr lang="en-US" sz="280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).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740058" y="1028700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7" y="0"/>
                </a:lnTo>
                <a:lnTo>
                  <a:pt x="7309077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2401554">
            <a:off x="14544048" y="-2515378"/>
            <a:ext cx="8376183" cy="8229600"/>
          </a:xfrm>
          <a:custGeom>
            <a:avLst/>
            <a:gdLst/>
            <a:ahLst/>
            <a:cxnLst/>
            <a:rect r="r" b="b" t="t" l="l"/>
            <a:pathLst>
              <a:path h="8229600" w="8376183">
                <a:moveTo>
                  <a:pt x="8376183" y="0"/>
                </a:moveTo>
                <a:lnTo>
                  <a:pt x="0" y="0"/>
                </a:lnTo>
                <a:lnTo>
                  <a:pt x="0" y="8229600"/>
                </a:lnTo>
                <a:lnTo>
                  <a:pt x="8376183" y="8229600"/>
                </a:lnTo>
                <a:lnTo>
                  <a:pt x="8376183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647015" y="5307574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7" y="0"/>
                </a:lnTo>
                <a:lnTo>
                  <a:pt x="7309077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4262330">
            <a:off x="-1327203" y="3978473"/>
            <a:ext cx="7694676" cy="8229600"/>
          </a:xfrm>
          <a:custGeom>
            <a:avLst/>
            <a:gdLst/>
            <a:ahLst/>
            <a:cxnLst/>
            <a:rect r="r" b="b" t="t" l="l"/>
            <a:pathLst>
              <a:path h="8229600" w="7694676">
                <a:moveTo>
                  <a:pt x="0" y="0"/>
                </a:moveTo>
                <a:lnTo>
                  <a:pt x="7694676" y="0"/>
                </a:lnTo>
                <a:lnTo>
                  <a:pt x="769467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14426" y="349363"/>
            <a:ext cx="2693098" cy="2500117"/>
            <a:chOff x="0" y="0"/>
            <a:chExt cx="3590798" cy="3333490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98335" y="9800"/>
              <a:ext cx="3271749" cy="3227171"/>
              <a:chOff x="0" y="0"/>
              <a:chExt cx="853552" cy="841922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53552" cy="841922"/>
              </a:xfrm>
              <a:custGeom>
                <a:avLst/>
                <a:gdLst/>
                <a:ahLst/>
                <a:cxnLst/>
                <a:rect r="r" b="b" t="t" l="l"/>
                <a:pathLst>
                  <a:path h="841922" w="853552">
                    <a:moveTo>
                      <a:pt x="426776" y="0"/>
                    </a:moveTo>
                    <a:cubicBezTo>
                      <a:pt x="191074" y="0"/>
                      <a:pt x="0" y="188471"/>
                      <a:pt x="0" y="420961"/>
                    </a:cubicBezTo>
                    <a:cubicBezTo>
                      <a:pt x="0" y="653451"/>
                      <a:pt x="191074" y="841922"/>
                      <a:pt x="426776" y="841922"/>
                    </a:cubicBezTo>
                    <a:cubicBezTo>
                      <a:pt x="662478" y="841922"/>
                      <a:pt x="853552" y="653451"/>
                      <a:pt x="853552" y="420961"/>
                    </a:cubicBezTo>
                    <a:cubicBezTo>
                      <a:pt x="853552" y="188471"/>
                      <a:pt x="662478" y="0"/>
                      <a:pt x="426776" y="0"/>
                    </a:cubicBezTo>
                    <a:close/>
                  </a:path>
                </a:pathLst>
              </a:custGeom>
              <a:solidFill>
                <a:srgbClr val="FFD21F"/>
              </a:solidFill>
              <a:ln w="66675" cap="sq">
                <a:solidFill>
                  <a:srgbClr val="000000"/>
                </a:solidFill>
                <a:prstDash val="sysDot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80020" y="12255"/>
                <a:ext cx="693511" cy="75073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504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1" id="11"/>
            <p:cNvSpPr/>
            <p:nvPr/>
          </p:nvSpPr>
          <p:spPr>
            <a:xfrm flipH="false" flipV="false" rot="0">
              <a:off x="830836" y="394900"/>
              <a:ext cx="2063286" cy="2456971"/>
            </a:xfrm>
            <a:custGeom>
              <a:avLst/>
              <a:gdLst/>
              <a:ahLst/>
              <a:cxnLst/>
              <a:rect r="r" b="b" t="t" l="l"/>
              <a:pathLst>
                <a:path h="2456971" w="2063286">
                  <a:moveTo>
                    <a:pt x="0" y="0"/>
                  </a:moveTo>
                  <a:lnTo>
                    <a:pt x="2063286" y="0"/>
                  </a:lnTo>
                  <a:lnTo>
                    <a:pt x="2063286" y="2456971"/>
                  </a:lnTo>
                  <a:lnTo>
                    <a:pt x="0" y="24569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-66441">
              <a:off x="1470710" y="19963"/>
              <a:ext cx="2093111" cy="2811945"/>
            </a:xfrm>
            <a:custGeom>
              <a:avLst/>
              <a:gdLst/>
              <a:ahLst/>
              <a:cxnLst/>
              <a:rect r="r" b="b" t="t" l="l"/>
              <a:pathLst>
                <a:path h="2811945" w="2093111">
                  <a:moveTo>
                    <a:pt x="0" y="0"/>
                  </a:moveTo>
                  <a:lnTo>
                    <a:pt x="2093111" y="0"/>
                  </a:lnTo>
                  <a:lnTo>
                    <a:pt x="2093111" y="2811945"/>
                  </a:lnTo>
                  <a:lnTo>
                    <a:pt x="0" y="28119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55" t="-8095" r="-755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10799999">
              <a:off x="0" y="521545"/>
              <a:ext cx="2093111" cy="2811945"/>
            </a:xfrm>
            <a:custGeom>
              <a:avLst/>
              <a:gdLst/>
              <a:ahLst/>
              <a:cxnLst/>
              <a:rect r="r" b="b" t="t" l="l"/>
              <a:pathLst>
                <a:path h="2811945" w="2093111">
                  <a:moveTo>
                    <a:pt x="0" y="0"/>
                  </a:moveTo>
                  <a:lnTo>
                    <a:pt x="2093111" y="0"/>
                  </a:lnTo>
                  <a:lnTo>
                    <a:pt x="2093111" y="2811945"/>
                  </a:lnTo>
                  <a:lnTo>
                    <a:pt x="0" y="28119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55" t="-8095" r="-755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10555869">
              <a:off x="217700" y="1623386"/>
              <a:ext cx="1001605" cy="1345584"/>
            </a:xfrm>
            <a:custGeom>
              <a:avLst/>
              <a:gdLst/>
              <a:ahLst/>
              <a:cxnLst/>
              <a:rect r="r" b="b" t="t" l="l"/>
              <a:pathLst>
                <a:path h="1345584" w="1001605">
                  <a:moveTo>
                    <a:pt x="0" y="0"/>
                  </a:moveTo>
                  <a:lnTo>
                    <a:pt x="1001605" y="0"/>
                  </a:lnTo>
                  <a:lnTo>
                    <a:pt x="1001605" y="1345584"/>
                  </a:lnTo>
                  <a:lnTo>
                    <a:pt x="0" y="1345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55" t="-8095" r="-755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-352945">
              <a:off x="2312523" y="370549"/>
              <a:ext cx="743357" cy="1043066"/>
            </a:xfrm>
            <a:custGeom>
              <a:avLst/>
              <a:gdLst/>
              <a:ahLst/>
              <a:cxnLst/>
              <a:rect r="r" b="b" t="t" l="l"/>
              <a:pathLst>
                <a:path h="1043066" w="743357">
                  <a:moveTo>
                    <a:pt x="0" y="0"/>
                  </a:moveTo>
                  <a:lnTo>
                    <a:pt x="743357" y="0"/>
                  </a:lnTo>
                  <a:lnTo>
                    <a:pt x="743357" y="1043066"/>
                  </a:lnTo>
                  <a:lnTo>
                    <a:pt x="0" y="10430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21769" t="-27252" r="-27677" b="-25109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17700" y="1161059"/>
              <a:ext cx="3114987" cy="924653"/>
            </a:xfrm>
            <a:custGeom>
              <a:avLst/>
              <a:gdLst/>
              <a:ahLst/>
              <a:cxnLst/>
              <a:rect r="r" b="b" t="t" l="l"/>
              <a:pathLst>
                <a:path h="924653" w="3114987">
                  <a:moveTo>
                    <a:pt x="0" y="0"/>
                  </a:moveTo>
                  <a:lnTo>
                    <a:pt x="3114987" y="0"/>
                  </a:lnTo>
                  <a:lnTo>
                    <a:pt x="3114987" y="924653"/>
                  </a:lnTo>
                  <a:lnTo>
                    <a:pt x="0" y="9246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-42566" b="0"/>
              </a:stretch>
            </a:blip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14426593" y="6779808"/>
            <a:ext cx="2626930" cy="2626930"/>
          </a:xfrm>
          <a:custGeom>
            <a:avLst/>
            <a:gdLst/>
            <a:ahLst/>
            <a:cxnLst/>
            <a:rect r="r" b="b" t="t" l="l"/>
            <a:pathLst>
              <a:path h="2626930" w="2626930">
                <a:moveTo>
                  <a:pt x="0" y="0"/>
                </a:moveTo>
                <a:lnTo>
                  <a:pt x="2626930" y="0"/>
                </a:lnTo>
                <a:lnTo>
                  <a:pt x="2626930" y="2626931"/>
                </a:lnTo>
                <a:lnTo>
                  <a:pt x="0" y="262693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4754059" y="3992843"/>
            <a:ext cx="8779883" cy="5006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 câmera seria posicionada a frente da sala sobre o T</a:t>
            </a:r>
            <a:r>
              <a:rPr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  <a:r>
              <a:rPr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ipé</a:t>
            </a:r>
            <a:r>
              <a:rPr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e </a:t>
            </a:r>
            <a:r>
              <a:rPr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voltada para os alunos.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Seriam fabricados por fabricação digital (Maker) os cartões em MDF com marcadores visuais. Cada orientação do cartão representa uma alternativa: A, B, C ou D.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 Sistema, posicionado à frente da sala, utiliza o scan com Open CV para escanear todos os cartões de uma única vez, caso algum cartão se encontre em um ponto cego, a câmera pode ser movida sobre o tripé.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4630234" y="2487531"/>
            <a:ext cx="4372145" cy="1454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35"/>
              </a:lnSpc>
            </a:pPr>
            <a:r>
              <a:rPr lang="en-US" b="true" sz="7200">
                <a:solidFill>
                  <a:srgbClr val="FFFFFF"/>
                </a:solidFill>
                <a:latin typeface="Prachason Neue Expanded Bold"/>
                <a:ea typeface="Prachason Neue Expanded Bold"/>
                <a:cs typeface="Prachason Neue Expanded Bold"/>
                <a:sym typeface="Prachason Neue Expanded Bold"/>
              </a:rPr>
              <a:t>COMO?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47015" y="-3991653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7" y="0"/>
                </a:lnTo>
                <a:lnTo>
                  <a:pt x="7309077" y="7309076"/>
                </a:lnTo>
                <a:lnTo>
                  <a:pt x="0" y="73090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674308">
            <a:off x="-4190580" y="-2320419"/>
            <a:ext cx="8381159" cy="8999903"/>
          </a:xfrm>
          <a:custGeom>
            <a:avLst/>
            <a:gdLst/>
            <a:ahLst/>
            <a:cxnLst/>
            <a:rect r="r" b="b" t="t" l="l"/>
            <a:pathLst>
              <a:path h="8999903" w="8381159">
                <a:moveTo>
                  <a:pt x="0" y="0"/>
                </a:moveTo>
                <a:lnTo>
                  <a:pt x="8381160" y="0"/>
                </a:lnTo>
                <a:lnTo>
                  <a:pt x="8381160" y="8999903"/>
                </a:lnTo>
                <a:lnTo>
                  <a:pt x="0" y="89999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388859" y="1488962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7" y="0"/>
                </a:lnTo>
                <a:lnTo>
                  <a:pt x="7309077" y="7309076"/>
                </a:lnTo>
                <a:lnTo>
                  <a:pt x="0" y="73090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596415" y="6298888"/>
            <a:ext cx="9500260" cy="8229600"/>
          </a:xfrm>
          <a:custGeom>
            <a:avLst/>
            <a:gdLst/>
            <a:ahLst/>
            <a:cxnLst/>
            <a:rect r="r" b="b" t="t" l="l"/>
            <a:pathLst>
              <a:path h="8229600" w="9500260">
                <a:moveTo>
                  <a:pt x="0" y="0"/>
                </a:moveTo>
                <a:lnTo>
                  <a:pt x="9500260" y="0"/>
                </a:lnTo>
                <a:lnTo>
                  <a:pt x="950026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457203" y="5802955"/>
            <a:ext cx="6612841" cy="4405806"/>
          </a:xfrm>
          <a:custGeom>
            <a:avLst/>
            <a:gdLst/>
            <a:ahLst/>
            <a:cxnLst/>
            <a:rect r="r" b="b" t="t" l="l"/>
            <a:pathLst>
              <a:path h="4405806" w="6612841">
                <a:moveTo>
                  <a:pt x="0" y="0"/>
                </a:moveTo>
                <a:lnTo>
                  <a:pt x="6612842" y="0"/>
                </a:lnTo>
                <a:lnTo>
                  <a:pt x="6612842" y="4405806"/>
                </a:lnTo>
                <a:lnTo>
                  <a:pt x="0" y="440580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464453" y="-530777"/>
            <a:ext cx="5420620" cy="5420620"/>
          </a:xfrm>
          <a:custGeom>
            <a:avLst/>
            <a:gdLst/>
            <a:ahLst/>
            <a:cxnLst/>
            <a:rect r="r" b="b" t="t" l="l"/>
            <a:pathLst>
              <a:path h="5420620" w="5420620">
                <a:moveTo>
                  <a:pt x="0" y="0"/>
                </a:moveTo>
                <a:lnTo>
                  <a:pt x="5420620" y="0"/>
                </a:lnTo>
                <a:lnTo>
                  <a:pt x="5420620" y="5420620"/>
                </a:lnTo>
                <a:lnTo>
                  <a:pt x="0" y="542062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341609" y="2492827"/>
            <a:ext cx="6640906" cy="1454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35"/>
              </a:lnSpc>
            </a:pPr>
            <a:r>
              <a:rPr lang="en-US" b="true" sz="7200">
                <a:solidFill>
                  <a:srgbClr val="FFFFFF"/>
                </a:solidFill>
                <a:latin typeface="Prachason Neue Expanded Bold"/>
                <a:ea typeface="Prachason Neue Expanded Bold"/>
                <a:cs typeface="Prachason Neue Expanded Bold"/>
                <a:sym typeface="Prachason Neue Expanded Bold"/>
              </a:rPr>
              <a:t>COMO²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754059" y="3909385"/>
            <a:ext cx="8779883" cy="3749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Ao realizar o scan, o sistema processa os dados e busca as questões diretamente em um servidor local como um Raspbarry Pi que pertence a rede SESI.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Ao final, o professor recebe um relatório de desempenho no site. É uma solução que valoriza o ecossistema do Sesi não dependendo de meios externos, trazendo autonomia tecnológica para a rede e transforma a experiência de aprendizagem em algo coletivo.</a:t>
            </a:r>
          </a:p>
          <a:p>
            <a:pPr algn="l">
              <a:lnSpc>
                <a:spcPts val="335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861169" y="-1269361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7" y="0"/>
                </a:lnTo>
                <a:lnTo>
                  <a:pt x="7309077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2782028">
            <a:off x="-4776818" y="-9367521"/>
            <a:ext cx="13714032" cy="14726478"/>
          </a:xfrm>
          <a:custGeom>
            <a:avLst/>
            <a:gdLst/>
            <a:ahLst/>
            <a:cxnLst/>
            <a:rect r="r" b="b" t="t" l="l"/>
            <a:pathLst>
              <a:path h="14726478" w="13714032">
                <a:moveTo>
                  <a:pt x="0" y="0"/>
                </a:moveTo>
                <a:lnTo>
                  <a:pt x="13714032" y="0"/>
                </a:lnTo>
                <a:lnTo>
                  <a:pt x="13714032" y="14726478"/>
                </a:lnTo>
                <a:lnTo>
                  <a:pt x="0" y="147264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153500" y="-916872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7" y="0"/>
                </a:lnTo>
                <a:lnTo>
                  <a:pt x="7309077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210752" y="2079261"/>
            <a:ext cx="1887090" cy="9445657"/>
            <a:chOff x="0" y="0"/>
            <a:chExt cx="623235" cy="311954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23235" cy="3119545"/>
            </a:xfrm>
            <a:custGeom>
              <a:avLst/>
              <a:gdLst/>
              <a:ahLst/>
              <a:cxnLst/>
              <a:rect r="r" b="b" t="t" l="l"/>
              <a:pathLst>
                <a:path h="3119545" w="623235">
                  <a:moveTo>
                    <a:pt x="311617" y="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3119545"/>
                  </a:lnTo>
                  <a:lnTo>
                    <a:pt x="420035" y="3119545"/>
                  </a:lnTo>
                  <a:lnTo>
                    <a:pt x="420035" y="406400"/>
                  </a:lnTo>
                  <a:lnTo>
                    <a:pt x="623235" y="406400"/>
                  </a:lnTo>
                  <a:lnTo>
                    <a:pt x="311617" y="0"/>
                  </a:lnTo>
                  <a:close/>
                </a:path>
              </a:pathLst>
            </a:custGeom>
            <a:solidFill>
              <a:srgbClr val="FFD21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7949347" y="1717311"/>
            <a:ext cx="8078208" cy="2483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35"/>
              </a:lnSpc>
            </a:pPr>
            <a:r>
              <a:rPr lang="en-US" b="true" sz="7200">
                <a:solidFill>
                  <a:srgbClr val="FFFFFF"/>
                </a:solidFill>
                <a:latin typeface="Prachason Neue Expanded Bold"/>
                <a:ea typeface="Prachason Neue Expanded Bold"/>
                <a:cs typeface="Prachason Neue Expanded Bold"/>
                <a:sym typeface="Prachason Neue Expanded Bold"/>
              </a:rPr>
              <a:t>VANTAGENS E MELHORIAS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2437710" y="7024967"/>
            <a:ext cx="8381159" cy="8999903"/>
          </a:xfrm>
          <a:custGeom>
            <a:avLst/>
            <a:gdLst/>
            <a:ahLst/>
            <a:cxnLst/>
            <a:rect r="r" b="b" t="t" l="l"/>
            <a:pathLst>
              <a:path h="8999903" w="8381159">
                <a:moveTo>
                  <a:pt x="0" y="0"/>
                </a:moveTo>
                <a:lnTo>
                  <a:pt x="8381159" y="0"/>
                </a:lnTo>
                <a:lnTo>
                  <a:pt x="8381159" y="8999903"/>
                </a:lnTo>
                <a:lnTo>
                  <a:pt x="0" y="89999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693098" y="4529788"/>
            <a:ext cx="10655422" cy="2810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3"/>
              </a:lnSpc>
              <a:spcBef>
                <a:spcPct val="0"/>
              </a:spcBef>
            </a:pPr>
            <a:r>
              <a:rPr lang="en-US" sz="327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Elimina a necessidade de tabl</a:t>
            </a:r>
            <a:r>
              <a:rPr lang="en-US" sz="327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ets ou celulares, sem precisar burlar a lei (15.100/2025), fazendo com que os professores possam passar alguns quizzes sobre a matéria de maneira mais fácil e efetiva, dependendo do engajamento, pode até ser usado como atividade de recuperação.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0" y="7786883"/>
            <a:ext cx="2693098" cy="2500117"/>
            <a:chOff x="0" y="0"/>
            <a:chExt cx="3590798" cy="333349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98335" y="9800"/>
              <a:ext cx="3271749" cy="3227171"/>
              <a:chOff x="0" y="0"/>
              <a:chExt cx="853552" cy="841922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53552" cy="841922"/>
              </a:xfrm>
              <a:custGeom>
                <a:avLst/>
                <a:gdLst/>
                <a:ahLst/>
                <a:cxnLst/>
                <a:rect r="r" b="b" t="t" l="l"/>
                <a:pathLst>
                  <a:path h="841922" w="853552">
                    <a:moveTo>
                      <a:pt x="426776" y="0"/>
                    </a:moveTo>
                    <a:cubicBezTo>
                      <a:pt x="191074" y="0"/>
                      <a:pt x="0" y="188471"/>
                      <a:pt x="0" y="420961"/>
                    </a:cubicBezTo>
                    <a:cubicBezTo>
                      <a:pt x="0" y="653451"/>
                      <a:pt x="191074" y="841922"/>
                      <a:pt x="426776" y="841922"/>
                    </a:cubicBezTo>
                    <a:cubicBezTo>
                      <a:pt x="662478" y="841922"/>
                      <a:pt x="853552" y="653451"/>
                      <a:pt x="853552" y="420961"/>
                    </a:cubicBezTo>
                    <a:cubicBezTo>
                      <a:pt x="853552" y="188471"/>
                      <a:pt x="662478" y="0"/>
                      <a:pt x="426776" y="0"/>
                    </a:cubicBezTo>
                    <a:close/>
                  </a:path>
                </a:pathLst>
              </a:custGeom>
              <a:solidFill>
                <a:srgbClr val="FFD21F"/>
              </a:solidFill>
              <a:ln w="66675" cap="sq">
                <a:solidFill>
                  <a:srgbClr val="000000"/>
                </a:solidFill>
                <a:prstDash val="sysDot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80020" y="12255"/>
                <a:ext cx="693511" cy="75073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504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5" id="15"/>
            <p:cNvSpPr/>
            <p:nvPr/>
          </p:nvSpPr>
          <p:spPr>
            <a:xfrm flipH="false" flipV="false" rot="0">
              <a:off x="830836" y="394900"/>
              <a:ext cx="2063286" cy="2456971"/>
            </a:xfrm>
            <a:custGeom>
              <a:avLst/>
              <a:gdLst/>
              <a:ahLst/>
              <a:cxnLst/>
              <a:rect r="r" b="b" t="t" l="l"/>
              <a:pathLst>
                <a:path h="2456971" w="2063286">
                  <a:moveTo>
                    <a:pt x="0" y="0"/>
                  </a:moveTo>
                  <a:lnTo>
                    <a:pt x="2063286" y="0"/>
                  </a:lnTo>
                  <a:lnTo>
                    <a:pt x="2063286" y="2456971"/>
                  </a:lnTo>
                  <a:lnTo>
                    <a:pt x="0" y="24569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-66441">
              <a:off x="1470710" y="19963"/>
              <a:ext cx="2093111" cy="2811945"/>
            </a:xfrm>
            <a:custGeom>
              <a:avLst/>
              <a:gdLst/>
              <a:ahLst/>
              <a:cxnLst/>
              <a:rect r="r" b="b" t="t" l="l"/>
              <a:pathLst>
                <a:path h="2811945" w="2093111">
                  <a:moveTo>
                    <a:pt x="0" y="0"/>
                  </a:moveTo>
                  <a:lnTo>
                    <a:pt x="2093111" y="0"/>
                  </a:lnTo>
                  <a:lnTo>
                    <a:pt x="2093111" y="2811945"/>
                  </a:lnTo>
                  <a:lnTo>
                    <a:pt x="0" y="28119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55" t="-8095" r="-755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10799999">
              <a:off x="0" y="521545"/>
              <a:ext cx="2093111" cy="2811945"/>
            </a:xfrm>
            <a:custGeom>
              <a:avLst/>
              <a:gdLst/>
              <a:ahLst/>
              <a:cxnLst/>
              <a:rect r="r" b="b" t="t" l="l"/>
              <a:pathLst>
                <a:path h="2811945" w="2093111">
                  <a:moveTo>
                    <a:pt x="0" y="0"/>
                  </a:moveTo>
                  <a:lnTo>
                    <a:pt x="2093111" y="0"/>
                  </a:lnTo>
                  <a:lnTo>
                    <a:pt x="2093111" y="2811945"/>
                  </a:lnTo>
                  <a:lnTo>
                    <a:pt x="0" y="28119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55" t="-8095" r="-755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10555869">
              <a:off x="217700" y="1623386"/>
              <a:ext cx="1001605" cy="1345584"/>
            </a:xfrm>
            <a:custGeom>
              <a:avLst/>
              <a:gdLst/>
              <a:ahLst/>
              <a:cxnLst/>
              <a:rect r="r" b="b" t="t" l="l"/>
              <a:pathLst>
                <a:path h="1345584" w="1001605">
                  <a:moveTo>
                    <a:pt x="0" y="0"/>
                  </a:moveTo>
                  <a:lnTo>
                    <a:pt x="1001605" y="0"/>
                  </a:lnTo>
                  <a:lnTo>
                    <a:pt x="1001605" y="1345584"/>
                  </a:lnTo>
                  <a:lnTo>
                    <a:pt x="0" y="1345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55" t="-8095" r="-755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-352945">
              <a:off x="2312523" y="370549"/>
              <a:ext cx="743357" cy="1043066"/>
            </a:xfrm>
            <a:custGeom>
              <a:avLst/>
              <a:gdLst/>
              <a:ahLst/>
              <a:cxnLst/>
              <a:rect r="r" b="b" t="t" l="l"/>
              <a:pathLst>
                <a:path h="1043066" w="743357">
                  <a:moveTo>
                    <a:pt x="0" y="0"/>
                  </a:moveTo>
                  <a:lnTo>
                    <a:pt x="743357" y="0"/>
                  </a:lnTo>
                  <a:lnTo>
                    <a:pt x="743357" y="1043066"/>
                  </a:lnTo>
                  <a:lnTo>
                    <a:pt x="0" y="10430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21769" t="-27252" r="-27677" b="-25109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17700" y="1161059"/>
              <a:ext cx="3114987" cy="924653"/>
            </a:xfrm>
            <a:custGeom>
              <a:avLst/>
              <a:gdLst/>
              <a:ahLst/>
              <a:cxnLst/>
              <a:rect r="r" b="b" t="t" l="l"/>
              <a:pathLst>
                <a:path h="924653" w="3114987">
                  <a:moveTo>
                    <a:pt x="0" y="0"/>
                  </a:moveTo>
                  <a:lnTo>
                    <a:pt x="3114987" y="0"/>
                  </a:lnTo>
                  <a:lnTo>
                    <a:pt x="3114987" y="924653"/>
                  </a:lnTo>
                  <a:lnTo>
                    <a:pt x="0" y="9246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42566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861169" y="-1269361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7" y="0"/>
                </a:lnTo>
                <a:lnTo>
                  <a:pt x="7309077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2782028">
            <a:off x="-4776818" y="-9367521"/>
            <a:ext cx="13714032" cy="14726478"/>
          </a:xfrm>
          <a:custGeom>
            <a:avLst/>
            <a:gdLst/>
            <a:ahLst/>
            <a:cxnLst/>
            <a:rect r="r" b="b" t="t" l="l"/>
            <a:pathLst>
              <a:path h="14726478" w="13714032">
                <a:moveTo>
                  <a:pt x="0" y="0"/>
                </a:moveTo>
                <a:lnTo>
                  <a:pt x="13714032" y="0"/>
                </a:lnTo>
                <a:lnTo>
                  <a:pt x="13714032" y="14726478"/>
                </a:lnTo>
                <a:lnTo>
                  <a:pt x="0" y="147264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153500" y="-916872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7" y="0"/>
                </a:lnTo>
                <a:lnTo>
                  <a:pt x="7309077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210752" y="2079261"/>
            <a:ext cx="1887090" cy="9445657"/>
            <a:chOff x="0" y="0"/>
            <a:chExt cx="623235" cy="311954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23235" cy="3119545"/>
            </a:xfrm>
            <a:custGeom>
              <a:avLst/>
              <a:gdLst/>
              <a:ahLst/>
              <a:cxnLst/>
              <a:rect r="r" b="b" t="t" l="l"/>
              <a:pathLst>
                <a:path h="3119545" w="623235">
                  <a:moveTo>
                    <a:pt x="311617" y="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3119545"/>
                  </a:lnTo>
                  <a:lnTo>
                    <a:pt x="420035" y="3119545"/>
                  </a:lnTo>
                  <a:lnTo>
                    <a:pt x="420035" y="406400"/>
                  </a:lnTo>
                  <a:lnTo>
                    <a:pt x="623235" y="406400"/>
                  </a:lnTo>
                  <a:lnTo>
                    <a:pt x="311617" y="0"/>
                  </a:lnTo>
                  <a:close/>
                </a:path>
              </a:pathLst>
            </a:custGeom>
            <a:solidFill>
              <a:srgbClr val="FFD21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7910594" y="1717311"/>
            <a:ext cx="8403891" cy="2483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35"/>
              </a:lnSpc>
            </a:pPr>
            <a:r>
              <a:rPr lang="en-US" b="true" sz="7200">
                <a:solidFill>
                  <a:srgbClr val="FFFFFF"/>
                </a:solidFill>
                <a:latin typeface="Prachason Neue Expanded Bold"/>
                <a:ea typeface="Prachason Neue Expanded Bold"/>
                <a:cs typeface="Prachason Neue Expanded Bold"/>
                <a:sym typeface="Prachason Neue Expanded Bold"/>
              </a:rPr>
              <a:t>VANTAGENS E MELHORIAS²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2437710" y="7024967"/>
            <a:ext cx="8381159" cy="8999903"/>
          </a:xfrm>
          <a:custGeom>
            <a:avLst/>
            <a:gdLst/>
            <a:ahLst/>
            <a:cxnLst/>
            <a:rect r="r" b="b" t="t" l="l"/>
            <a:pathLst>
              <a:path h="8999903" w="8381159">
                <a:moveTo>
                  <a:pt x="0" y="0"/>
                </a:moveTo>
                <a:lnTo>
                  <a:pt x="8381159" y="0"/>
                </a:lnTo>
                <a:lnTo>
                  <a:pt x="8381159" y="8999903"/>
                </a:lnTo>
                <a:lnTo>
                  <a:pt x="0" y="89999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693098" y="4529788"/>
            <a:ext cx="10655422" cy="3277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3"/>
              </a:lnSpc>
              <a:spcBef>
                <a:spcPct val="0"/>
              </a:spcBef>
            </a:pPr>
            <a:r>
              <a:rPr lang="en-US" sz="327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Com a criação de </a:t>
            </a:r>
            <a:r>
              <a:rPr lang="en-US" sz="327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um ciclo de feedback imediato. Para estimular o engajamento, os dados alimentam um Ranking Dinâmico em Power BI que pode ser exibido nas TVs da unidade, incentivando a participação individual e entre turmas.</a:t>
            </a:r>
          </a:p>
          <a:p>
            <a:pPr algn="l">
              <a:lnSpc>
                <a:spcPts val="3703"/>
              </a:lnSpc>
              <a:spcBef>
                <a:spcPct val="0"/>
              </a:spcBef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0" y="7786883"/>
            <a:ext cx="2693098" cy="2500117"/>
            <a:chOff x="0" y="0"/>
            <a:chExt cx="3590798" cy="333349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98335" y="9800"/>
              <a:ext cx="3271749" cy="3227171"/>
              <a:chOff x="0" y="0"/>
              <a:chExt cx="853552" cy="841922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53552" cy="841922"/>
              </a:xfrm>
              <a:custGeom>
                <a:avLst/>
                <a:gdLst/>
                <a:ahLst/>
                <a:cxnLst/>
                <a:rect r="r" b="b" t="t" l="l"/>
                <a:pathLst>
                  <a:path h="841922" w="853552">
                    <a:moveTo>
                      <a:pt x="426776" y="0"/>
                    </a:moveTo>
                    <a:cubicBezTo>
                      <a:pt x="191074" y="0"/>
                      <a:pt x="0" y="188471"/>
                      <a:pt x="0" y="420961"/>
                    </a:cubicBezTo>
                    <a:cubicBezTo>
                      <a:pt x="0" y="653451"/>
                      <a:pt x="191074" y="841922"/>
                      <a:pt x="426776" y="841922"/>
                    </a:cubicBezTo>
                    <a:cubicBezTo>
                      <a:pt x="662478" y="841922"/>
                      <a:pt x="853552" y="653451"/>
                      <a:pt x="853552" y="420961"/>
                    </a:cubicBezTo>
                    <a:cubicBezTo>
                      <a:pt x="853552" y="188471"/>
                      <a:pt x="662478" y="0"/>
                      <a:pt x="426776" y="0"/>
                    </a:cubicBezTo>
                    <a:close/>
                  </a:path>
                </a:pathLst>
              </a:custGeom>
              <a:solidFill>
                <a:srgbClr val="FFD21F"/>
              </a:solidFill>
              <a:ln w="66675" cap="sq">
                <a:solidFill>
                  <a:srgbClr val="000000"/>
                </a:solidFill>
                <a:prstDash val="sysDot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80020" y="12255"/>
                <a:ext cx="693511" cy="75073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504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5" id="15"/>
            <p:cNvSpPr/>
            <p:nvPr/>
          </p:nvSpPr>
          <p:spPr>
            <a:xfrm flipH="false" flipV="false" rot="0">
              <a:off x="830836" y="394900"/>
              <a:ext cx="2063286" cy="2456971"/>
            </a:xfrm>
            <a:custGeom>
              <a:avLst/>
              <a:gdLst/>
              <a:ahLst/>
              <a:cxnLst/>
              <a:rect r="r" b="b" t="t" l="l"/>
              <a:pathLst>
                <a:path h="2456971" w="2063286">
                  <a:moveTo>
                    <a:pt x="0" y="0"/>
                  </a:moveTo>
                  <a:lnTo>
                    <a:pt x="2063286" y="0"/>
                  </a:lnTo>
                  <a:lnTo>
                    <a:pt x="2063286" y="2456971"/>
                  </a:lnTo>
                  <a:lnTo>
                    <a:pt x="0" y="24569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-66441">
              <a:off x="1470710" y="19963"/>
              <a:ext cx="2093111" cy="2811945"/>
            </a:xfrm>
            <a:custGeom>
              <a:avLst/>
              <a:gdLst/>
              <a:ahLst/>
              <a:cxnLst/>
              <a:rect r="r" b="b" t="t" l="l"/>
              <a:pathLst>
                <a:path h="2811945" w="2093111">
                  <a:moveTo>
                    <a:pt x="0" y="0"/>
                  </a:moveTo>
                  <a:lnTo>
                    <a:pt x="2093111" y="0"/>
                  </a:lnTo>
                  <a:lnTo>
                    <a:pt x="2093111" y="2811945"/>
                  </a:lnTo>
                  <a:lnTo>
                    <a:pt x="0" y="28119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55" t="-8095" r="-755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10799999">
              <a:off x="0" y="521545"/>
              <a:ext cx="2093111" cy="2811945"/>
            </a:xfrm>
            <a:custGeom>
              <a:avLst/>
              <a:gdLst/>
              <a:ahLst/>
              <a:cxnLst/>
              <a:rect r="r" b="b" t="t" l="l"/>
              <a:pathLst>
                <a:path h="2811945" w="2093111">
                  <a:moveTo>
                    <a:pt x="0" y="0"/>
                  </a:moveTo>
                  <a:lnTo>
                    <a:pt x="2093111" y="0"/>
                  </a:lnTo>
                  <a:lnTo>
                    <a:pt x="2093111" y="2811945"/>
                  </a:lnTo>
                  <a:lnTo>
                    <a:pt x="0" y="28119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55" t="-8095" r="-755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10555869">
              <a:off x="217700" y="1623386"/>
              <a:ext cx="1001605" cy="1345584"/>
            </a:xfrm>
            <a:custGeom>
              <a:avLst/>
              <a:gdLst/>
              <a:ahLst/>
              <a:cxnLst/>
              <a:rect r="r" b="b" t="t" l="l"/>
              <a:pathLst>
                <a:path h="1345584" w="1001605">
                  <a:moveTo>
                    <a:pt x="0" y="0"/>
                  </a:moveTo>
                  <a:lnTo>
                    <a:pt x="1001605" y="0"/>
                  </a:lnTo>
                  <a:lnTo>
                    <a:pt x="1001605" y="1345584"/>
                  </a:lnTo>
                  <a:lnTo>
                    <a:pt x="0" y="1345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55" t="-8095" r="-755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-352945">
              <a:off x="2312523" y="370549"/>
              <a:ext cx="743357" cy="1043066"/>
            </a:xfrm>
            <a:custGeom>
              <a:avLst/>
              <a:gdLst/>
              <a:ahLst/>
              <a:cxnLst/>
              <a:rect r="r" b="b" t="t" l="l"/>
              <a:pathLst>
                <a:path h="1043066" w="743357">
                  <a:moveTo>
                    <a:pt x="0" y="0"/>
                  </a:moveTo>
                  <a:lnTo>
                    <a:pt x="743357" y="0"/>
                  </a:lnTo>
                  <a:lnTo>
                    <a:pt x="743357" y="1043066"/>
                  </a:lnTo>
                  <a:lnTo>
                    <a:pt x="0" y="10430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21769" t="-27252" r="-27677" b="-25109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17700" y="1161059"/>
              <a:ext cx="3114987" cy="924653"/>
            </a:xfrm>
            <a:custGeom>
              <a:avLst/>
              <a:gdLst/>
              <a:ahLst/>
              <a:cxnLst/>
              <a:rect r="r" b="b" t="t" l="l"/>
              <a:pathLst>
                <a:path h="924653" w="3114987">
                  <a:moveTo>
                    <a:pt x="0" y="0"/>
                  </a:moveTo>
                  <a:lnTo>
                    <a:pt x="3114987" y="0"/>
                  </a:lnTo>
                  <a:lnTo>
                    <a:pt x="3114987" y="924653"/>
                  </a:lnTo>
                  <a:lnTo>
                    <a:pt x="0" y="9246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42566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812357" y="2099286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7" y="0"/>
                </a:lnTo>
                <a:lnTo>
                  <a:pt x="7309077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998742" y="1001872"/>
            <a:ext cx="6290516" cy="2242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12"/>
              </a:lnSpc>
            </a:pPr>
            <a:r>
              <a:rPr lang="en-US" b="true" sz="11073">
                <a:solidFill>
                  <a:srgbClr val="FFFFFF"/>
                </a:solidFill>
                <a:latin typeface="Prachason Neue Expanded Bold"/>
                <a:ea typeface="Prachason Neue Expanded Bold"/>
                <a:cs typeface="Prachason Neue Expanded Bold"/>
                <a:sym typeface="Prachason Neue Expanded Bold"/>
              </a:rPr>
              <a:t>SITE</a:t>
            </a:r>
          </a:p>
        </p:txBody>
      </p:sp>
      <p:sp>
        <p:nvSpPr>
          <p:cNvPr name="Freeform 5" id="5"/>
          <p:cNvSpPr/>
          <p:nvPr/>
        </p:nvSpPr>
        <p:spPr>
          <a:xfrm flipH="true" flipV="false" rot="-2401554">
            <a:off x="15219974" y="-620515"/>
            <a:ext cx="7355789" cy="7227063"/>
          </a:xfrm>
          <a:custGeom>
            <a:avLst/>
            <a:gdLst/>
            <a:ahLst/>
            <a:cxnLst/>
            <a:rect r="r" b="b" t="t" l="l"/>
            <a:pathLst>
              <a:path h="7227063" w="7355789">
                <a:moveTo>
                  <a:pt x="7355789" y="0"/>
                </a:moveTo>
                <a:lnTo>
                  <a:pt x="0" y="0"/>
                </a:lnTo>
                <a:lnTo>
                  <a:pt x="0" y="7227063"/>
                </a:lnTo>
                <a:lnTo>
                  <a:pt x="7355789" y="7227063"/>
                </a:lnTo>
                <a:lnTo>
                  <a:pt x="7355789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4262330">
            <a:off x="-1391161" y="6614613"/>
            <a:ext cx="7694676" cy="8229600"/>
          </a:xfrm>
          <a:custGeom>
            <a:avLst/>
            <a:gdLst/>
            <a:ahLst/>
            <a:cxnLst/>
            <a:rect r="r" b="b" t="t" l="l"/>
            <a:pathLst>
              <a:path h="8229600" w="7694676">
                <a:moveTo>
                  <a:pt x="0" y="0"/>
                </a:moveTo>
                <a:lnTo>
                  <a:pt x="7694676" y="0"/>
                </a:lnTo>
                <a:lnTo>
                  <a:pt x="769467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854976" y="-4064690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7" y="0"/>
                </a:lnTo>
                <a:lnTo>
                  <a:pt x="7309077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137938" y="3154006"/>
            <a:ext cx="10012124" cy="4473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56"/>
              </a:lnSpc>
              <a:spcBef>
                <a:spcPct val="0"/>
              </a:spcBef>
            </a:pPr>
            <a:r>
              <a:rPr lang="en-US" sz="318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 site possuirá duas possibilidades de login – Professor (com as tabelas de porc</a:t>
            </a:r>
            <a:r>
              <a:rPr lang="en-US" sz="318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entagem de erro e acerto dos alunos e turmas, o desempenho nas atividades e quais questões possuem mais erros) e Aluno (com seu desempenho individual e classificação na turma e escola).</a:t>
            </a:r>
          </a:p>
          <a:p>
            <a:pPr algn="ctr">
              <a:lnSpc>
                <a:spcPts val="4456"/>
              </a:lnSpc>
              <a:spcBef>
                <a:spcPct val="0"/>
              </a:spcBef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784489" y="427598"/>
            <a:ext cx="3343376" cy="3343376"/>
          </a:xfrm>
          <a:custGeom>
            <a:avLst/>
            <a:gdLst/>
            <a:ahLst/>
            <a:cxnLst/>
            <a:rect r="r" b="b" t="t" l="l"/>
            <a:pathLst>
              <a:path h="3343376" w="3343376">
                <a:moveTo>
                  <a:pt x="0" y="0"/>
                </a:moveTo>
                <a:lnTo>
                  <a:pt x="3343376" y="0"/>
                </a:lnTo>
                <a:lnTo>
                  <a:pt x="3343376" y="3343376"/>
                </a:lnTo>
                <a:lnTo>
                  <a:pt x="0" y="334337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871460" y="5784860"/>
            <a:ext cx="4416415" cy="4416415"/>
          </a:xfrm>
          <a:custGeom>
            <a:avLst/>
            <a:gdLst/>
            <a:ahLst/>
            <a:cxnLst/>
            <a:rect r="r" b="b" t="t" l="l"/>
            <a:pathLst>
              <a:path h="4416415" w="4416415">
                <a:moveTo>
                  <a:pt x="0" y="0"/>
                </a:moveTo>
                <a:lnTo>
                  <a:pt x="4416415" y="0"/>
                </a:lnTo>
                <a:lnTo>
                  <a:pt x="4416415" y="4416415"/>
                </a:lnTo>
                <a:lnTo>
                  <a:pt x="0" y="441641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007180" y="6326044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6" y="0"/>
                </a:lnTo>
                <a:lnTo>
                  <a:pt x="7309076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556337" y="3502215"/>
            <a:ext cx="9133815" cy="4696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5"/>
              </a:lnSpc>
            </a:pPr>
            <a:r>
              <a:rPr lang="en-US" sz="298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[RF001] Tela de cadastro do professor, onde ele selecionará que é um professor e colocaria suas informações, Email educacional e Senha. </a:t>
            </a:r>
          </a:p>
          <a:p>
            <a:pPr algn="l">
              <a:lnSpc>
                <a:spcPts val="4185"/>
              </a:lnSpc>
            </a:pPr>
            <a:r>
              <a:rPr lang="en-US" sz="298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[RF002] T</a:t>
            </a:r>
            <a:r>
              <a:rPr lang="en-US" sz="298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ela com as tabelas de porcentagem de erro e acerto dos alunos e das turmas, com relação entre si e com a rede SESI, o desempenho nas atividades e quais questões possuem mais erros. </a:t>
            </a:r>
          </a:p>
          <a:p>
            <a:pPr algn="l">
              <a:lnSpc>
                <a:spcPts val="4185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989862" y="524877"/>
            <a:ext cx="8104699" cy="2483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36"/>
              </a:lnSpc>
            </a:pPr>
            <a:r>
              <a:rPr lang="en-US" b="true" sz="7200">
                <a:solidFill>
                  <a:srgbClr val="FFFFFF"/>
                </a:solidFill>
                <a:latin typeface="Prachason Neue Expanded Bold"/>
                <a:ea typeface="Prachason Neue Expanded Bold"/>
                <a:cs typeface="Prachason Neue Expanded Bold"/>
                <a:sym typeface="Prachason Neue Expanded Bold"/>
              </a:rPr>
              <a:t>REQUISITOS FUNCIONAIS </a:t>
            </a:r>
          </a:p>
        </p:txBody>
      </p:sp>
      <p:sp>
        <p:nvSpPr>
          <p:cNvPr name="Freeform 6" id="6"/>
          <p:cNvSpPr/>
          <p:nvPr/>
        </p:nvSpPr>
        <p:spPr>
          <a:xfrm flipH="true" flipV="false" rot="-1767601">
            <a:off x="-5607138" y="4465641"/>
            <a:ext cx="12131969" cy="9205131"/>
          </a:xfrm>
          <a:custGeom>
            <a:avLst/>
            <a:gdLst/>
            <a:ahLst/>
            <a:cxnLst/>
            <a:rect r="r" b="b" t="t" l="l"/>
            <a:pathLst>
              <a:path h="9205131" w="12131969">
                <a:moveTo>
                  <a:pt x="12131969" y="0"/>
                </a:moveTo>
                <a:lnTo>
                  <a:pt x="0" y="0"/>
                </a:lnTo>
                <a:lnTo>
                  <a:pt x="0" y="9205132"/>
                </a:lnTo>
                <a:lnTo>
                  <a:pt x="12131969" y="9205132"/>
                </a:lnTo>
                <a:lnTo>
                  <a:pt x="12131969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913850" y="-3934448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6" y="0"/>
                </a:lnTo>
                <a:lnTo>
                  <a:pt x="7309076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5642527" y="209550"/>
            <a:ext cx="2693098" cy="2500117"/>
            <a:chOff x="0" y="0"/>
            <a:chExt cx="3590798" cy="333349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98335" y="9800"/>
              <a:ext cx="3271749" cy="3227171"/>
              <a:chOff x="0" y="0"/>
              <a:chExt cx="853552" cy="841922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53552" cy="841922"/>
              </a:xfrm>
              <a:custGeom>
                <a:avLst/>
                <a:gdLst/>
                <a:ahLst/>
                <a:cxnLst/>
                <a:rect r="r" b="b" t="t" l="l"/>
                <a:pathLst>
                  <a:path h="841922" w="853552">
                    <a:moveTo>
                      <a:pt x="426776" y="0"/>
                    </a:moveTo>
                    <a:cubicBezTo>
                      <a:pt x="191074" y="0"/>
                      <a:pt x="0" y="188471"/>
                      <a:pt x="0" y="420961"/>
                    </a:cubicBezTo>
                    <a:cubicBezTo>
                      <a:pt x="0" y="653451"/>
                      <a:pt x="191074" y="841922"/>
                      <a:pt x="426776" y="841922"/>
                    </a:cubicBezTo>
                    <a:cubicBezTo>
                      <a:pt x="662478" y="841922"/>
                      <a:pt x="853552" y="653451"/>
                      <a:pt x="853552" y="420961"/>
                    </a:cubicBezTo>
                    <a:cubicBezTo>
                      <a:pt x="853552" y="188471"/>
                      <a:pt x="662478" y="0"/>
                      <a:pt x="426776" y="0"/>
                    </a:cubicBezTo>
                    <a:close/>
                  </a:path>
                </a:pathLst>
              </a:custGeom>
              <a:solidFill>
                <a:srgbClr val="FFD21F"/>
              </a:solidFill>
              <a:ln w="66675" cap="sq">
                <a:solidFill>
                  <a:srgbClr val="000000"/>
                </a:solidFill>
                <a:prstDash val="sysDot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80020" y="12255"/>
                <a:ext cx="693511" cy="75073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504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830836" y="394900"/>
              <a:ext cx="2063286" cy="2456971"/>
            </a:xfrm>
            <a:custGeom>
              <a:avLst/>
              <a:gdLst/>
              <a:ahLst/>
              <a:cxnLst/>
              <a:rect r="r" b="b" t="t" l="l"/>
              <a:pathLst>
                <a:path h="2456971" w="2063286">
                  <a:moveTo>
                    <a:pt x="0" y="0"/>
                  </a:moveTo>
                  <a:lnTo>
                    <a:pt x="2063286" y="0"/>
                  </a:lnTo>
                  <a:lnTo>
                    <a:pt x="2063286" y="2456971"/>
                  </a:lnTo>
                  <a:lnTo>
                    <a:pt x="0" y="24569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-66441">
              <a:off x="1470710" y="19963"/>
              <a:ext cx="2093111" cy="2811945"/>
            </a:xfrm>
            <a:custGeom>
              <a:avLst/>
              <a:gdLst/>
              <a:ahLst/>
              <a:cxnLst/>
              <a:rect r="r" b="b" t="t" l="l"/>
              <a:pathLst>
                <a:path h="2811945" w="2093111">
                  <a:moveTo>
                    <a:pt x="0" y="0"/>
                  </a:moveTo>
                  <a:lnTo>
                    <a:pt x="2093111" y="0"/>
                  </a:lnTo>
                  <a:lnTo>
                    <a:pt x="2093111" y="2811945"/>
                  </a:lnTo>
                  <a:lnTo>
                    <a:pt x="0" y="28119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55" t="-8095" r="-755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10799999">
              <a:off x="0" y="521545"/>
              <a:ext cx="2093111" cy="2811945"/>
            </a:xfrm>
            <a:custGeom>
              <a:avLst/>
              <a:gdLst/>
              <a:ahLst/>
              <a:cxnLst/>
              <a:rect r="r" b="b" t="t" l="l"/>
              <a:pathLst>
                <a:path h="2811945" w="2093111">
                  <a:moveTo>
                    <a:pt x="0" y="0"/>
                  </a:moveTo>
                  <a:lnTo>
                    <a:pt x="2093111" y="0"/>
                  </a:lnTo>
                  <a:lnTo>
                    <a:pt x="2093111" y="2811945"/>
                  </a:lnTo>
                  <a:lnTo>
                    <a:pt x="0" y="28119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55" t="-8095" r="-755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10555869">
              <a:off x="217700" y="1623386"/>
              <a:ext cx="1001605" cy="1345584"/>
            </a:xfrm>
            <a:custGeom>
              <a:avLst/>
              <a:gdLst/>
              <a:ahLst/>
              <a:cxnLst/>
              <a:rect r="r" b="b" t="t" l="l"/>
              <a:pathLst>
                <a:path h="1345584" w="1001605">
                  <a:moveTo>
                    <a:pt x="0" y="0"/>
                  </a:moveTo>
                  <a:lnTo>
                    <a:pt x="1001605" y="0"/>
                  </a:lnTo>
                  <a:lnTo>
                    <a:pt x="1001605" y="1345584"/>
                  </a:lnTo>
                  <a:lnTo>
                    <a:pt x="0" y="1345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55" t="-8095" r="-755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-352945">
              <a:off x="2312523" y="370549"/>
              <a:ext cx="743357" cy="1043066"/>
            </a:xfrm>
            <a:custGeom>
              <a:avLst/>
              <a:gdLst/>
              <a:ahLst/>
              <a:cxnLst/>
              <a:rect r="r" b="b" t="t" l="l"/>
              <a:pathLst>
                <a:path h="1043066" w="743357">
                  <a:moveTo>
                    <a:pt x="0" y="0"/>
                  </a:moveTo>
                  <a:lnTo>
                    <a:pt x="743357" y="0"/>
                  </a:lnTo>
                  <a:lnTo>
                    <a:pt x="743357" y="1043066"/>
                  </a:lnTo>
                  <a:lnTo>
                    <a:pt x="0" y="10430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21769" t="-27252" r="-27677" b="-25109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217700" y="1161059"/>
              <a:ext cx="3114987" cy="924653"/>
            </a:xfrm>
            <a:custGeom>
              <a:avLst/>
              <a:gdLst/>
              <a:ahLst/>
              <a:cxnLst/>
              <a:rect r="r" b="b" t="t" l="l"/>
              <a:pathLst>
                <a:path h="924653" w="3114987">
                  <a:moveTo>
                    <a:pt x="0" y="0"/>
                  </a:moveTo>
                  <a:lnTo>
                    <a:pt x="3114987" y="0"/>
                  </a:lnTo>
                  <a:lnTo>
                    <a:pt x="3114987" y="924653"/>
                  </a:lnTo>
                  <a:lnTo>
                    <a:pt x="0" y="9246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42566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6508712" y="2764903"/>
            <a:ext cx="6628223" cy="439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58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(dos Professores)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007180" y="6326044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6" y="0"/>
                </a:lnTo>
                <a:lnTo>
                  <a:pt x="7309076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221143" y="3522570"/>
            <a:ext cx="9133815" cy="3648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5"/>
              </a:lnSpc>
            </a:pPr>
            <a:r>
              <a:rPr lang="en-US" sz="298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[RF001] Tela de cadastro do aluno, onde ele selecionará que é um aluno e colocará suas informações, Email educacional e Senha. </a:t>
            </a:r>
          </a:p>
          <a:p>
            <a:pPr algn="l">
              <a:lnSpc>
                <a:spcPts val="4185"/>
              </a:lnSpc>
            </a:pPr>
            <a:r>
              <a:rPr lang="en-US" sz="298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[RF002] T</a:t>
            </a:r>
            <a:r>
              <a:rPr lang="en-US" sz="298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ela que mostra seu desempenho individual e classificação na turma, escola e a rede SESI </a:t>
            </a:r>
          </a:p>
          <a:p>
            <a:pPr algn="l">
              <a:lnSpc>
                <a:spcPts val="4185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989862" y="524877"/>
            <a:ext cx="8104699" cy="2483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36"/>
              </a:lnSpc>
            </a:pPr>
            <a:r>
              <a:rPr lang="en-US" b="true" sz="7200">
                <a:solidFill>
                  <a:srgbClr val="FFFFFF"/>
                </a:solidFill>
                <a:latin typeface="Prachason Neue Expanded Bold"/>
                <a:ea typeface="Prachason Neue Expanded Bold"/>
                <a:cs typeface="Prachason Neue Expanded Bold"/>
                <a:sym typeface="Prachason Neue Expanded Bold"/>
              </a:rPr>
              <a:t>REQUISITOS FUNCIONAIS </a:t>
            </a:r>
          </a:p>
        </p:txBody>
      </p:sp>
      <p:sp>
        <p:nvSpPr>
          <p:cNvPr name="Freeform 6" id="6"/>
          <p:cNvSpPr/>
          <p:nvPr/>
        </p:nvSpPr>
        <p:spPr>
          <a:xfrm flipH="true" flipV="false" rot="-1767601">
            <a:off x="-5607138" y="4465641"/>
            <a:ext cx="12131969" cy="9205131"/>
          </a:xfrm>
          <a:custGeom>
            <a:avLst/>
            <a:gdLst/>
            <a:ahLst/>
            <a:cxnLst/>
            <a:rect r="r" b="b" t="t" l="l"/>
            <a:pathLst>
              <a:path h="9205131" w="12131969">
                <a:moveTo>
                  <a:pt x="12131969" y="0"/>
                </a:moveTo>
                <a:lnTo>
                  <a:pt x="0" y="0"/>
                </a:lnTo>
                <a:lnTo>
                  <a:pt x="0" y="9205132"/>
                </a:lnTo>
                <a:lnTo>
                  <a:pt x="12131969" y="9205132"/>
                </a:lnTo>
                <a:lnTo>
                  <a:pt x="12131969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913850" y="-3934448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6" y="0"/>
                </a:lnTo>
                <a:lnTo>
                  <a:pt x="7309076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5642527" y="209550"/>
            <a:ext cx="2693098" cy="2500117"/>
            <a:chOff x="0" y="0"/>
            <a:chExt cx="3590798" cy="333349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98335" y="9800"/>
              <a:ext cx="3271749" cy="3227171"/>
              <a:chOff x="0" y="0"/>
              <a:chExt cx="853552" cy="841922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53552" cy="841922"/>
              </a:xfrm>
              <a:custGeom>
                <a:avLst/>
                <a:gdLst/>
                <a:ahLst/>
                <a:cxnLst/>
                <a:rect r="r" b="b" t="t" l="l"/>
                <a:pathLst>
                  <a:path h="841922" w="853552">
                    <a:moveTo>
                      <a:pt x="426776" y="0"/>
                    </a:moveTo>
                    <a:cubicBezTo>
                      <a:pt x="191074" y="0"/>
                      <a:pt x="0" y="188471"/>
                      <a:pt x="0" y="420961"/>
                    </a:cubicBezTo>
                    <a:cubicBezTo>
                      <a:pt x="0" y="653451"/>
                      <a:pt x="191074" y="841922"/>
                      <a:pt x="426776" y="841922"/>
                    </a:cubicBezTo>
                    <a:cubicBezTo>
                      <a:pt x="662478" y="841922"/>
                      <a:pt x="853552" y="653451"/>
                      <a:pt x="853552" y="420961"/>
                    </a:cubicBezTo>
                    <a:cubicBezTo>
                      <a:pt x="853552" y="188471"/>
                      <a:pt x="662478" y="0"/>
                      <a:pt x="426776" y="0"/>
                    </a:cubicBezTo>
                    <a:close/>
                  </a:path>
                </a:pathLst>
              </a:custGeom>
              <a:solidFill>
                <a:srgbClr val="FFD21F"/>
              </a:solidFill>
              <a:ln w="66675" cap="sq">
                <a:solidFill>
                  <a:srgbClr val="000000"/>
                </a:solidFill>
                <a:prstDash val="sysDot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80020" y="12255"/>
                <a:ext cx="693511" cy="75073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504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830836" y="394900"/>
              <a:ext cx="2063286" cy="2456971"/>
            </a:xfrm>
            <a:custGeom>
              <a:avLst/>
              <a:gdLst/>
              <a:ahLst/>
              <a:cxnLst/>
              <a:rect r="r" b="b" t="t" l="l"/>
              <a:pathLst>
                <a:path h="2456971" w="2063286">
                  <a:moveTo>
                    <a:pt x="0" y="0"/>
                  </a:moveTo>
                  <a:lnTo>
                    <a:pt x="2063286" y="0"/>
                  </a:lnTo>
                  <a:lnTo>
                    <a:pt x="2063286" y="2456971"/>
                  </a:lnTo>
                  <a:lnTo>
                    <a:pt x="0" y="24569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-66441">
              <a:off x="1470710" y="19963"/>
              <a:ext cx="2093111" cy="2811945"/>
            </a:xfrm>
            <a:custGeom>
              <a:avLst/>
              <a:gdLst/>
              <a:ahLst/>
              <a:cxnLst/>
              <a:rect r="r" b="b" t="t" l="l"/>
              <a:pathLst>
                <a:path h="2811945" w="2093111">
                  <a:moveTo>
                    <a:pt x="0" y="0"/>
                  </a:moveTo>
                  <a:lnTo>
                    <a:pt x="2093111" y="0"/>
                  </a:lnTo>
                  <a:lnTo>
                    <a:pt x="2093111" y="2811945"/>
                  </a:lnTo>
                  <a:lnTo>
                    <a:pt x="0" y="28119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55" t="-8095" r="-755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10799999">
              <a:off x="0" y="521545"/>
              <a:ext cx="2093111" cy="2811945"/>
            </a:xfrm>
            <a:custGeom>
              <a:avLst/>
              <a:gdLst/>
              <a:ahLst/>
              <a:cxnLst/>
              <a:rect r="r" b="b" t="t" l="l"/>
              <a:pathLst>
                <a:path h="2811945" w="2093111">
                  <a:moveTo>
                    <a:pt x="0" y="0"/>
                  </a:moveTo>
                  <a:lnTo>
                    <a:pt x="2093111" y="0"/>
                  </a:lnTo>
                  <a:lnTo>
                    <a:pt x="2093111" y="2811945"/>
                  </a:lnTo>
                  <a:lnTo>
                    <a:pt x="0" y="28119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55" t="-8095" r="-755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10555869">
              <a:off x="217700" y="1623386"/>
              <a:ext cx="1001605" cy="1345584"/>
            </a:xfrm>
            <a:custGeom>
              <a:avLst/>
              <a:gdLst/>
              <a:ahLst/>
              <a:cxnLst/>
              <a:rect r="r" b="b" t="t" l="l"/>
              <a:pathLst>
                <a:path h="1345584" w="1001605">
                  <a:moveTo>
                    <a:pt x="0" y="0"/>
                  </a:moveTo>
                  <a:lnTo>
                    <a:pt x="1001605" y="0"/>
                  </a:lnTo>
                  <a:lnTo>
                    <a:pt x="1001605" y="1345584"/>
                  </a:lnTo>
                  <a:lnTo>
                    <a:pt x="0" y="1345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55" t="-8095" r="-755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-352945">
              <a:off x="2312523" y="370549"/>
              <a:ext cx="743357" cy="1043066"/>
            </a:xfrm>
            <a:custGeom>
              <a:avLst/>
              <a:gdLst/>
              <a:ahLst/>
              <a:cxnLst/>
              <a:rect r="r" b="b" t="t" l="l"/>
              <a:pathLst>
                <a:path h="1043066" w="743357">
                  <a:moveTo>
                    <a:pt x="0" y="0"/>
                  </a:moveTo>
                  <a:lnTo>
                    <a:pt x="743357" y="0"/>
                  </a:lnTo>
                  <a:lnTo>
                    <a:pt x="743357" y="1043066"/>
                  </a:lnTo>
                  <a:lnTo>
                    <a:pt x="0" y="10430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21769" t="-27252" r="-27677" b="-25109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217700" y="1161059"/>
              <a:ext cx="3114987" cy="924653"/>
            </a:xfrm>
            <a:custGeom>
              <a:avLst/>
              <a:gdLst/>
              <a:ahLst/>
              <a:cxnLst/>
              <a:rect r="r" b="b" t="t" l="l"/>
              <a:pathLst>
                <a:path h="924653" w="3114987">
                  <a:moveTo>
                    <a:pt x="0" y="0"/>
                  </a:moveTo>
                  <a:lnTo>
                    <a:pt x="3114987" y="0"/>
                  </a:lnTo>
                  <a:lnTo>
                    <a:pt x="3114987" y="924653"/>
                  </a:lnTo>
                  <a:lnTo>
                    <a:pt x="0" y="9246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42566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7221143" y="2764903"/>
            <a:ext cx="6628223" cy="439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58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(dos Alunos)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648551" y="5918940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7" y="0"/>
                </a:lnTo>
                <a:lnTo>
                  <a:pt x="7309077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585327" y="3389369"/>
            <a:ext cx="8822893" cy="7263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7"/>
              </a:lnSpc>
            </a:pPr>
            <a:r>
              <a:rPr lang="en-US" sz="241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Requisitos não funcionais: </a:t>
            </a:r>
          </a:p>
          <a:p>
            <a:pPr algn="l">
              <a:lnSpc>
                <a:spcPts val="3377"/>
              </a:lnSpc>
            </a:pPr>
            <a:r>
              <a:rPr lang="en-US" sz="241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[NF001] O sit</a:t>
            </a:r>
            <a:r>
              <a:rPr lang="en-US" sz="241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 deve aguentar no mínimo 10000 acessos simultâneos para que a rede SESI possa t</a:t>
            </a:r>
            <a:r>
              <a:rPr lang="en-US" sz="241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er uma boa estabilidade</a:t>
            </a:r>
          </a:p>
          <a:p>
            <a:pPr algn="l">
              <a:lnSpc>
                <a:spcPts val="3377"/>
              </a:lnSpc>
            </a:pPr>
            <a:r>
              <a:rPr lang="en-US" sz="241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[NF002] O site deve estar disponível durante todo o horário escolar</a:t>
            </a:r>
          </a:p>
          <a:p>
            <a:pPr algn="l">
              <a:lnSpc>
                <a:spcPts val="3377"/>
              </a:lnSpc>
            </a:pPr>
            <a:r>
              <a:rPr lang="en-US" sz="241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[NF003] Os dados individuais dos alunos devem ser acessíveis apenas pelo próprio aluno e professores autorizados.</a:t>
            </a:r>
          </a:p>
          <a:p>
            <a:pPr algn="l">
              <a:lnSpc>
                <a:spcPts val="3377"/>
              </a:lnSpc>
            </a:pPr>
            <a:r>
              <a:rPr lang="en-US" sz="241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[NF004] O sistema web deve funcionar nos navegadores Chrome, Edge e Firefox.</a:t>
            </a:r>
          </a:p>
          <a:p>
            <a:pPr algn="l">
              <a:lnSpc>
                <a:spcPts val="3377"/>
              </a:lnSpc>
            </a:pPr>
            <a:r>
              <a:rPr lang="en-US" sz="241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[NF005] O acesso deve ser feito apenas com e-mail institucional e senha criptografada, podendo ser alterada depois a senha.</a:t>
            </a:r>
          </a:p>
          <a:p>
            <a:pPr algn="l">
              <a:lnSpc>
                <a:spcPts val="3377"/>
              </a:lnSpc>
            </a:pPr>
            <a:r>
              <a:rPr lang="en-US" sz="241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  <a:p>
            <a:pPr algn="r">
              <a:lnSpc>
                <a:spcPts val="3377"/>
              </a:lnSpc>
            </a:pPr>
          </a:p>
          <a:p>
            <a:pPr algn="r">
              <a:lnSpc>
                <a:spcPts val="3377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3585327" y="944111"/>
            <a:ext cx="9977376" cy="2483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136"/>
              </a:lnSpc>
            </a:pPr>
            <a:r>
              <a:rPr lang="en-US" b="true" sz="7200">
                <a:solidFill>
                  <a:srgbClr val="FFFFFF"/>
                </a:solidFill>
                <a:latin typeface="Prachason Neue Expanded Bold"/>
                <a:ea typeface="Prachason Neue Expanded Bold"/>
                <a:cs typeface="Prachason Neue Expanded Bold"/>
                <a:sym typeface="Prachason Neue Expanded Bold"/>
              </a:rPr>
              <a:t>REQUISITOS NÃO FUNCIONAIS</a:t>
            </a:r>
          </a:p>
        </p:txBody>
      </p:sp>
      <p:sp>
        <p:nvSpPr>
          <p:cNvPr name="Freeform 6" id="6"/>
          <p:cNvSpPr/>
          <p:nvPr/>
        </p:nvSpPr>
        <p:spPr>
          <a:xfrm flipH="true" flipV="false" rot="-1767601">
            <a:off x="9476052" y="6521515"/>
            <a:ext cx="12131969" cy="9205131"/>
          </a:xfrm>
          <a:custGeom>
            <a:avLst/>
            <a:gdLst/>
            <a:ahLst/>
            <a:cxnLst/>
            <a:rect r="r" b="b" t="t" l="l"/>
            <a:pathLst>
              <a:path h="9205131" w="12131969">
                <a:moveTo>
                  <a:pt x="12131969" y="0"/>
                </a:moveTo>
                <a:lnTo>
                  <a:pt x="0" y="0"/>
                </a:lnTo>
                <a:lnTo>
                  <a:pt x="0" y="9205131"/>
                </a:lnTo>
                <a:lnTo>
                  <a:pt x="12131969" y="9205131"/>
                </a:lnTo>
                <a:lnTo>
                  <a:pt x="12131969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390650" y="-3729357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7" y="0"/>
                </a:lnTo>
                <a:lnTo>
                  <a:pt x="7309077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458847" y="209550"/>
            <a:ext cx="2693098" cy="2500117"/>
            <a:chOff x="0" y="0"/>
            <a:chExt cx="3590798" cy="333349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98335" y="9800"/>
              <a:ext cx="3271749" cy="3227171"/>
              <a:chOff x="0" y="0"/>
              <a:chExt cx="853552" cy="841922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53552" cy="841922"/>
              </a:xfrm>
              <a:custGeom>
                <a:avLst/>
                <a:gdLst/>
                <a:ahLst/>
                <a:cxnLst/>
                <a:rect r="r" b="b" t="t" l="l"/>
                <a:pathLst>
                  <a:path h="841922" w="853552">
                    <a:moveTo>
                      <a:pt x="426776" y="0"/>
                    </a:moveTo>
                    <a:cubicBezTo>
                      <a:pt x="191074" y="0"/>
                      <a:pt x="0" y="188471"/>
                      <a:pt x="0" y="420961"/>
                    </a:cubicBezTo>
                    <a:cubicBezTo>
                      <a:pt x="0" y="653451"/>
                      <a:pt x="191074" y="841922"/>
                      <a:pt x="426776" y="841922"/>
                    </a:cubicBezTo>
                    <a:cubicBezTo>
                      <a:pt x="662478" y="841922"/>
                      <a:pt x="853552" y="653451"/>
                      <a:pt x="853552" y="420961"/>
                    </a:cubicBezTo>
                    <a:cubicBezTo>
                      <a:pt x="853552" y="188471"/>
                      <a:pt x="662478" y="0"/>
                      <a:pt x="426776" y="0"/>
                    </a:cubicBezTo>
                    <a:close/>
                  </a:path>
                </a:pathLst>
              </a:custGeom>
              <a:solidFill>
                <a:srgbClr val="FFD21F"/>
              </a:solidFill>
              <a:ln w="66675" cap="sq">
                <a:solidFill>
                  <a:srgbClr val="000000"/>
                </a:solidFill>
                <a:prstDash val="sysDot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80020" y="12255"/>
                <a:ext cx="693511" cy="75073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504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830836" y="394900"/>
              <a:ext cx="2063286" cy="2456971"/>
            </a:xfrm>
            <a:custGeom>
              <a:avLst/>
              <a:gdLst/>
              <a:ahLst/>
              <a:cxnLst/>
              <a:rect r="r" b="b" t="t" l="l"/>
              <a:pathLst>
                <a:path h="2456971" w="2063286">
                  <a:moveTo>
                    <a:pt x="0" y="0"/>
                  </a:moveTo>
                  <a:lnTo>
                    <a:pt x="2063286" y="0"/>
                  </a:lnTo>
                  <a:lnTo>
                    <a:pt x="2063286" y="2456971"/>
                  </a:lnTo>
                  <a:lnTo>
                    <a:pt x="0" y="24569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-66441">
              <a:off x="1470710" y="19963"/>
              <a:ext cx="2093111" cy="2811945"/>
            </a:xfrm>
            <a:custGeom>
              <a:avLst/>
              <a:gdLst/>
              <a:ahLst/>
              <a:cxnLst/>
              <a:rect r="r" b="b" t="t" l="l"/>
              <a:pathLst>
                <a:path h="2811945" w="2093111">
                  <a:moveTo>
                    <a:pt x="0" y="0"/>
                  </a:moveTo>
                  <a:lnTo>
                    <a:pt x="2093111" y="0"/>
                  </a:lnTo>
                  <a:lnTo>
                    <a:pt x="2093111" y="2811945"/>
                  </a:lnTo>
                  <a:lnTo>
                    <a:pt x="0" y="28119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55" t="-8095" r="-755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10799999">
              <a:off x="0" y="521545"/>
              <a:ext cx="2093111" cy="2811945"/>
            </a:xfrm>
            <a:custGeom>
              <a:avLst/>
              <a:gdLst/>
              <a:ahLst/>
              <a:cxnLst/>
              <a:rect r="r" b="b" t="t" l="l"/>
              <a:pathLst>
                <a:path h="2811945" w="2093111">
                  <a:moveTo>
                    <a:pt x="0" y="0"/>
                  </a:moveTo>
                  <a:lnTo>
                    <a:pt x="2093111" y="0"/>
                  </a:lnTo>
                  <a:lnTo>
                    <a:pt x="2093111" y="2811945"/>
                  </a:lnTo>
                  <a:lnTo>
                    <a:pt x="0" y="28119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55" t="-8095" r="-755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10555869">
              <a:off x="217700" y="1623386"/>
              <a:ext cx="1001605" cy="1345584"/>
            </a:xfrm>
            <a:custGeom>
              <a:avLst/>
              <a:gdLst/>
              <a:ahLst/>
              <a:cxnLst/>
              <a:rect r="r" b="b" t="t" l="l"/>
              <a:pathLst>
                <a:path h="1345584" w="1001605">
                  <a:moveTo>
                    <a:pt x="0" y="0"/>
                  </a:moveTo>
                  <a:lnTo>
                    <a:pt x="1001605" y="0"/>
                  </a:lnTo>
                  <a:lnTo>
                    <a:pt x="1001605" y="1345584"/>
                  </a:lnTo>
                  <a:lnTo>
                    <a:pt x="0" y="1345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55" t="-8095" r="-755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-352945">
              <a:off x="2312523" y="370549"/>
              <a:ext cx="743357" cy="1043066"/>
            </a:xfrm>
            <a:custGeom>
              <a:avLst/>
              <a:gdLst/>
              <a:ahLst/>
              <a:cxnLst/>
              <a:rect r="r" b="b" t="t" l="l"/>
              <a:pathLst>
                <a:path h="1043066" w="743357">
                  <a:moveTo>
                    <a:pt x="0" y="0"/>
                  </a:moveTo>
                  <a:lnTo>
                    <a:pt x="743357" y="0"/>
                  </a:lnTo>
                  <a:lnTo>
                    <a:pt x="743357" y="1043066"/>
                  </a:lnTo>
                  <a:lnTo>
                    <a:pt x="0" y="10430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21769" t="-27252" r="-27677" b="-25109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217700" y="1161059"/>
              <a:ext cx="3114987" cy="924653"/>
            </a:xfrm>
            <a:custGeom>
              <a:avLst/>
              <a:gdLst/>
              <a:ahLst/>
              <a:cxnLst/>
              <a:rect r="r" b="b" t="t" l="l"/>
              <a:pathLst>
                <a:path h="924653" w="3114987">
                  <a:moveTo>
                    <a:pt x="0" y="0"/>
                  </a:moveTo>
                  <a:lnTo>
                    <a:pt x="3114987" y="0"/>
                  </a:lnTo>
                  <a:lnTo>
                    <a:pt x="3114987" y="924653"/>
                  </a:lnTo>
                  <a:lnTo>
                    <a:pt x="0" y="9246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42566" b="0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648551" y="5918940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7" y="0"/>
                </a:lnTo>
                <a:lnTo>
                  <a:pt x="7309077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585327" y="3389369"/>
            <a:ext cx="8822893" cy="3834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7"/>
              </a:lnSpc>
            </a:pPr>
            <a:r>
              <a:rPr lang="en-US" sz="241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Requisitos não funcionais aluno: </a:t>
            </a:r>
          </a:p>
          <a:p>
            <a:pPr algn="l">
              <a:lnSpc>
                <a:spcPts val="3377"/>
              </a:lnSpc>
            </a:pPr>
            <a:r>
              <a:rPr lang="en-US" sz="241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[NF001] A int</a:t>
            </a:r>
            <a:r>
              <a:rPr lang="en-US" sz="241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erface do aluno deve s</a:t>
            </a:r>
            <a:r>
              <a:rPr lang="en-US" sz="241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er simples e compreensível, permitindo visualização do desempenho sem necessidade de treinamento.</a:t>
            </a:r>
          </a:p>
          <a:p>
            <a:pPr algn="l">
              <a:lnSpc>
                <a:spcPts val="3377"/>
              </a:lnSpc>
            </a:pPr>
            <a:r>
              <a:rPr lang="en-US" sz="241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[NF002] O sistema deve estar acessível aos alunos fora do horário de aula para consulta de desempenho.</a:t>
            </a:r>
          </a:p>
          <a:p>
            <a:pPr algn="l">
              <a:lnSpc>
                <a:spcPts val="3377"/>
              </a:lnSpc>
            </a:pPr>
            <a:r>
              <a:rPr lang="en-US" sz="241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  <a:p>
            <a:pPr algn="r">
              <a:lnSpc>
                <a:spcPts val="3377"/>
              </a:lnSpc>
            </a:pPr>
          </a:p>
          <a:p>
            <a:pPr algn="r">
              <a:lnSpc>
                <a:spcPts val="3377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3585327" y="944111"/>
            <a:ext cx="9977376" cy="2483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136"/>
              </a:lnSpc>
            </a:pPr>
            <a:r>
              <a:rPr lang="en-US" b="true" sz="7200">
                <a:solidFill>
                  <a:srgbClr val="FFFFFF"/>
                </a:solidFill>
                <a:latin typeface="Prachason Neue Expanded Bold"/>
                <a:ea typeface="Prachason Neue Expanded Bold"/>
                <a:cs typeface="Prachason Neue Expanded Bold"/>
                <a:sym typeface="Prachason Neue Expanded Bold"/>
              </a:rPr>
              <a:t>REQUISITOS NÃO FUNCIONAIS²</a:t>
            </a:r>
          </a:p>
        </p:txBody>
      </p:sp>
      <p:sp>
        <p:nvSpPr>
          <p:cNvPr name="Freeform 6" id="6"/>
          <p:cNvSpPr/>
          <p:nvPr/>
        </p:nvSpPr>
        <p:spPr>
          <a:xfrm flipH="true" flipV="false" rot="-1767601">
            <a:off x="9476052" y="6521515"/>
            <a:ext cx="12131969" cy="9205131"/>
          </a:xfrm>
          <a:custGeom>
            <a:avLst/>
            <a:gdLst/>
            <a:ahLst/>
            <a:cxnLst/>
            <a:rect r="r" b="b" t="t" l="l"/>
            <a:pathLst>
              <a:path h="9205131" w="12131969">
                <a:moveTo>
                  <a:pt x="12131969" y="0"/>
                </a:moveTo>
                <a:lnTo>
                  <a:pt x="0" y="0"/>
                </a:lnTo>
                <a:lnTo>
                  <a:pt x="0" y="9205131"/>
                </a:lnTo>
                <a:lnTo>
                  <a:pt x="12131969" y="9205131"/>
                </a:lnTo>
                <a:lnTo>
                  <a:pt x="12131969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390650" y="-3729357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7" y="0"/>
                </a:lnTo>
                <a:lnTo>
                  <a:pt x="7309077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458847" y="209550"/>
            <a:ext cx="2693098" cy="2500117"/>
            <a:chOff x="0" y="0"/>
            <a:chExt cx="3590798" cy="333349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98335" y="9800"/>
              <a:ext cx="3271749" cy="3227171"/>
              <a:chOff x="0" y="0"/>
              <a:chExt cx="853552" cy="841922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53552" cy="841922"/>
              </a:xfrm>
              <a:custGeom>
                <a:avLst/>
                <a:gdLst/>
                <a:ahLst/>
                <a:cxnLst/>
                <a:rect r="r" b="b" t="t" l="l"/>
                <a:pathLst>
                  <a:path h="841922" w="853552">
                    <a:moveTo>
                      <a:pt x="426776" y="0"/>
                    </a:moveTo>
                    <a:cubicBezTo>
                      <a:pt x="191074" y="0"/>
                      <a:pt x="0" y="188471"/>
                      <a:pt x="0" y="420961"/>
                    </a:cubicBezTo>
                    <a:cubicBezTo>
                      <a:pt x="0" y="653451"/>
                      <a:pt x="191074" y="841922"/>
                      <a:pt x="426776" y="841922"/>
                    </a:cubicBezTo>
                    <a:cubicBezTo>
                      <a:pt x="662478" y="841922"/>
                      <a:pt x="853552" y="653451"/>
                      <a:pt x="853552" y="420961"/>
                    </a:cubicBezTo>
                    <a:cubicBezTo>
                      <a:pt x="853552" y="188471"/>
                      <a:pt x="662478" y="0"/>
                      <a:pt x="426776" y="0"/>
                    </a:cubicBezTo>
                    <a:close/>
                  </a:path>
                </a:pathLst>
              </a:custGeom>
              <a:solidFill>
                <a:srgbClr val="FFD21F"/>
              </a:solidFill>
              <a:ln w="66675" cap="sq">
                <a:solidFill>
                  <a:srgbClr val="000000"/>
                </a:solidFill>
                <a:prstDash val="sysDot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80020" y="12255"/>
                <a:ext cx="693511" cy="75073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504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830836" y="394900"/>
              <a:ext cx="2063286" cy="2456971"/>
            </a:xfrm>
            <a:custGeom>
              <a:avLst/>
              <a:gdLst/>
              <a:ahLst/>
              <a:cxnLst/>
              <a:rect r="r" b="b" t="t" l="l"/>
              <a:pathLst>
                <a:path h="2456971" w="2063286">
                  <a:moveTo>
                    <a:pt x="0" y="0"/>
                  </a:moveTo>
                  <a:lnTo>
                    <a:pt x="2063286" y="0"/>
                  </a:lnTo>
                  <a:lnTo>
                    <a:pt x="2063286" y="2456971"/>
                  </a:lnTo>
                  <a:lnTo>
                    <a:pt x="0" y="24569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-66441">
              <a:off x="1470710" y="19963"/>
              <a:ext cx="2093111" cy="2811945"/>
            </a:xfrm>
            <a:custGeom>
              <a:avLst/>
              <a:gdLst/>
              <a:ahLst/>
              <a:cxnLst/>
              <a:rect r="r" b="b" t="t" l="l"/>
              <a:pathLst>
                <a:path h="2811945" w="2093111">
                  <a:moveTo>
                    <a:pt x="0" y="0"/>
                  </a:moveTo>
                  <a:lnTo>
                    <a:pt x="2093111" y="0"/>
                  </a:lnTo>
                  <a:lnTo>
                    <a:pt x="2093111" y="2811945"/>
                  </a:lnTo>
                  <a:lnTo>
                    <a:pt x="0" y="28119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55" t="-8095" r="-755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10799999">
              <a:off x="0" y="521545"/>
              <a:ext cx="2093111" cy="2811945"/>
            </a:xfrm>
            <a:custGeom>
              <a:avLst/>
              <a:gdLst/>
              <a:ahLst/>
              <a:cxnLst/>
              <a:rect r="r" b="b" t="t" l="l"/>
              <a:pathLst>
                <a:path h="2811945" w="2093111">
                  <a:moveTo>
                    <a:pt x="0" y="0"/>
                  </a:moveTo>
                  <a:lnTo>
                    <a:pt x="2093111" y="0"/>
                  </a:lnTo>
                  <a:lnTo>
                    <a:pt x="2093111" y="2811945"/>
                  </a:lnTo>
                  <a:lnTo>
                    <a:pt x="0" y="28119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55" t="-8095" r="-755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10555869">
              <a:off x="217700" y="1623386"/>
              <a:ext cx="1001605" cy="1345584"/>
            </a:xfrm>
            <a:custGeom>
              <a:avLst/>
              <a:gdLst/>
              <a:ahLst/>
              <a:cxnLst/>
              <a:rect r="r" b="b" t="t" l="l"/>
              <a:pathLst>
                <a:path h="1345584" w="1001605">
                  <a:moveTo>
                    <a:pt x="0" y="0"/>
                  </a:moveTo>
                  <a:lnTo>
                    <a:pt x="1001605" y="0"/>
                  </a:lnTo>
                  <a:lnTo>
                    <a:pt x="1001605" y="1345584"/>
                  </a:lnTo>
                  <a:lnTo>
                    <a:pt x="0" y="1345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55" t="-8095" r="-755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-352945">
              <a:off x="2312523" y="370549"/>
              <a:ext cx="743357" cy="1043066"/>
            </a:xfrm>
            <a:custGeom>
              <a:avLst/>
              <a:gdLst/>
              <a:ahLst/>
              <a:cxnLst/>
              <a:rect r="r" b="b" t="t" l="l"/>
              <a:pathLst>
                <a:path h="1043066" w="743357">
                  <a:moveTo>
                    <a:pt x="0" y="0"/>
                  </a:moveTo>
                  <a:lnTo>
                    <a:pt x="743357" y="0"/>
                  </a:lnTo>
                  <a:lnTo>
                    <a:pt x="743357" y="1043066"/>
                  </a:lnTo>
                  <a:lnTo>
                    <a:pt x="0" y="10430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21769" t="-27252" r="-27677" b="-25109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217700" y="1161059"/>
              <a:ext cx="3114987" cy="924653"/>
            </a:xfrm>
            <a:custGeom>
              <a:avLst/>
              <a:gdLst/>
              <a:ahLst/>
              <a:cxnLst/>
              <a:rect r="r" b="b" t="t" l="l"/>
              <a:pathLst>
                <a:path h="924653" w="3114987">
                  <a:moveTo>
                    <a:pt x="0" y="0"/>
                  </a:moveTo>
                  <a:lnTo>
                    <a:pt x="3114987" y="0"/>
                  </a:lnTo>
                  <a:lnTo>
                    <a:pt x="3114987" y="924653"/>
                  </a:lnTo>
                  <a:lnTo>
                    <a:pt x="0" y="9246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42566" b="0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419750" y="-3709761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6" y="0"/>
                </a:lnTo>
                <a:lnTo>
                  <a:pt x="7309076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578114" y="3293920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7" y="0"/>
                </a:lnTo>
                <a:lnTo>
                  <a:pt x="7309077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326664" y="2036694"/>
            <a:ext cx="11634673" cy="4715623"/>
            <a:chOff x="0" y="0"/>
            <a:chExt cx="812800" cy="32943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329434"/>
            </a:xfrm>
            <a:custGeom>
              <a:avLst/>
              <a:gdLst/>
              <a:ahLst/>
              <a:cxnLst/>
              <a:rect r="r" b="b" t="t" l="l"/>
              <a:pathLst>
                <a:path h="329434" w="812800">
                  <a:moveTo>
                    <a:pt x="406400" y="0"/>
                  </a:moveTo>
                  <a:cubicBezTo>
                    <a:pt x="181951" y="0"/>
                    <a:pt x="0" y="73746"/>
                    <a:pt x="0" y="164717"/>
                  </a:cubicBezTo>
                  <a:cubicBezTo>
                    <a:pt x="0" y="255688"/>
                    <a:pt x="181951" y="329434"/>
                    <a:pt x="406400" y="329434"/>
                  </a:cubicBezTo>
                  <a:cubicBezTo>
                    <a:pt x="630849" y="329434"/>
                    <a:pt x="812800" y="255688"/>
                    <a:pt x="812800" y="164717"/>
                  </a:cubicBezTo>
                  <a:cubicBezTo>
                    <a:pt x="812800" y="73746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-7216"/>
              <a:ext cx="660400" cy="305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594108" y="3661949"/>
            <a:ext cx="1465112" cy="1465112"/>
          </a:xfrm>
          <a:custGeom>
            <a:avLst/>
            <a:gdLst/>
            <a:ahLst/>
            <a:cxnLst/>
            <a:rect r="r" b="b" t="t" l="l"/>
            <a:pathLst>
              <a:path h="1465112" w="1465112">
                <a:moveTo>
                  <a:pt x="0" y="0"/>
                </a:moveTo>
                <a:lnTo>
                  <a:pt x="1465112" y="0"/>
                </a:lnTo>
                <a:lnTo>
                  <a:pt x="1465112" y="1465112"/>
                </a:lnTo>
                <a:lnTo>
                  <a:pt x="0" y="14651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603815" y="3764171"/>
            <a:ext cx="11080370" cy="2128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24"/>
              </a:lnSpc>
            </a:pPr>
            <a:r>
              <a:rPr lang="en-US" sz="15163">
                <a:solidFill>
                  <a:srgbClr val="FFFFFF"/>
                </a:solidFill>
                <a:latin typeface="TAN Astoria"/>
                <a:ea typeface="TAN Astoria"/>
                <a:cs typeface="TAN Astoria"/>
                <a:sym typeface="TAN Astoria"/>
              </a:rPr>
              <a:t>OBRIGADO!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4228780" y="3661949"/>
            <a:ext cx="1465112" cy="1465112"/>
          </a:xfrm>
          <a:custGeom>
            <a:avLst/>
            <a:gdLst/>
            <a:ahLst/>
            <a:cxnLst/>
            <a:rect r="r" b="b" t="t" l="l"/>
            <a:pathLst>
              <a:path h="1465112" w="1465112">
                <a:moveTo>
                  <a:pt x="0" y="0"/>
                </a:moveTo>
                <a:lnTo>
                  <a:pt x="1465112" y="0"/>
                </a:lnTo>
                <a:lnTo>
                  <a:pt x="1465112" y="1465112"/>
                </a:lnTo>
                <a:lnTo>
                  <a:pt x="0" y="14651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603815" y="7623338"/>
            <a:ext cx="11080370" cy="1461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9"/>
              </a:lnSpc>
            </a:pPr>
            <a:r>
              <a:rPr lang="en-US" sz="1699">
                <a:solidFill>
                  <a:srgbClr val="FFFFFF"/>
                </a:solidFill>
                <a:latin typeface="Noto Serif ExtraCondensed"/>
                <a:ea typeface="Noto Serif ExtraCondensed"/>
                <a:cs typeface="Noto Serif ExtraCondensed"/>
                <a:sym typeface="Noto Serif ExtraCondensed"/>
              </a:rPr>
              <a:t>Guilherme Barichello</a:t>
            </a:r>
          </a:p>
          <a:p>
            <a:pPr algn="ctr">
              <a:lnSpc>
                <a:spcPts val="2379"/>
              </a:lnSpc>
            </a:pPr>
            <a:r>
              <a:rPr lang="en-US" sz="1699">
                <a:solidFill>
                  <a:srgbClr val="FFFFFF"/>
                </a:solidFill>
                <a:latin typeface="Noto Serif ExtraCondensed"/>
                <a:ea typeface="Noto Serif ExtraCondensed"/>
                <a:cs typeface="Noto Serif ExtraCondensed"/>
                <a:sym typeface="Noto Serif ExtraCondensed"/>
              </a:rPr>
              <a:t>Vitor Rafael Parisato</a:t>
            </a:r>
          </a:p>
          <a:p>
            <a:pPr algn="ctr">
              <a:lnSpc>
                <a:spcPts val="2379"/>
              </a:lnSpc>
            </a:pPr>
            <a:r>
              <a:rPr lang="en-US" sz="1699">
                <a:solidFill>
                  <a:srgbClr val="FFFFFF"/>
                </a:solidFill>
                <a:latin typeface="Noto Serif ExtraCondensed"/>
                <a:ea typeface="Noto Serif ExtraCondensed"/>
                <a:cs typeface="Noto Serif ExtraCondensed"/>
                <a:sym typeface="Noto Serif ExtraCondensed"/>
              </a:rPr>
              <a:t>Pietro Broleze</a:t>
            </a:r>
          </a:p>
          <a:p>
            <a:pPr algn="ctr">
              <a:lnSpc>
                <a:spcPts val="2379"/>
              </a:lnSpc>
            </a:pPr>
            <a:r>
              <a:rPr lang="en-US" sz="1699">
                <a:solidFill>
                  <a:srgbClr val="FFFFFF"/>
                </a:solidFill>
                <a:latin typeface="Noto Serif ExtraCondensed"/>
                <a:ea typeface="Noto Serif ExtraCondensed"/>
                <a:cs typeface="Noto Serif ExtraCondensed"/>
                <a:sym typeface="Noto Serif ExtraCondensed"/>
              </a:rPr>
              <a:t>Felipe Martins</a:t>
            </a:r>
          </a:p>
          <a:p>
            <a:pPr algn="ctr">
              <a:lnSpc>
                <a:spcPts val="2379"/>
              </a:lnSpc>
              <a:spcBef>
                <a:spcPct val="0"/>
              </a:spcBef>
            </a:pPr>
            <a:r>
              <a:rPr lang="en-US" sz="1699">
                <a:solidFill>
                  <a:srgbClr val="FFFFFF"/>
                </a:solidFill>
                <a:latin typeface="Noto Serif ExtraCondensed"/>
                <a:ea typeface="Noto Serif ExtraCondensed"/>
                <a:cs typeface="Noto Serif ExtraCondensed"/>
                <a:sym typeface="Noto Serif ExtraCondensed"/>
              </a:rPr>
              <a:t>Bruno Vascon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DAHHs7p54q4</dc:identifier>
  <dcterms:modified xsi:type="dcterms:W3CDTF">2011-08-01T06:04:30Z</dcterms:modified>
  <cp:revision>1</cp:revision>
  <dc:title>Cópia de legal e bonito</dc:title>
</cp:coreProperties>
</file>